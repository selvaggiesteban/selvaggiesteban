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f3b68104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f3b68104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3b68104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3b68104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f3b681049f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f3b681049f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4875" y="152350"/>
            <a:ext cx="8291100" cy="4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¿De qué se trata el servicio de diseño de landing page?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El servicio de diseño de landing page se refiere a la creación y optimización de una página web específica dentro de un sitio, diseñada con un objetivo particular en mente, como puede ser la venta de un producto, la suscripción a un servicio, la inscripción a un evento, o la recolección de datos de contacto de los visitantes. Este tipo de servicio se enfoca en garantizar que la página de aterrizaje sea atractiva, funcional y efectiva para convertir a los visitantes en clientes o leads. Los elementos clave que suelen incluirse en el diseño de una landing page son: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Un título claro y atractivo:</a:t>
            </a:r>
            <a:r>
              <a:rPr lang="es-419" sz="1000">
                <a:solidFill>
                  <a:schemeClr val="dk2"/>
                </a:solidFill>
              </a:rPr>
              <a:t> Que capte la atención del visitante y lo incentive a quedarse en la página.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Contenido relevante y persuasivo:</a:t>
            </a:r>
            <a:r>
              <a:rPr lang="es-419" sz="1000">
                <a:solidFill>
                  <a:schemeClr val="dk2"/>
                </a:solidFill>
              </a:rPr>
              <a:t> Texto, imágenes y videos diseñados para comunicar el valor del producto o servicio ofrecido y persuadir al visitante de tomar una acción específica.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Una propuesta de valor clara:</a:t>
            </a:r>
            <a:r>
              <a:rPr lang="es-419" sz="1000">
                <a:solidFill>
                  <a:schemeClr val="dk2"/>
                </a:solidFill>
              </a:rPr>
              <a:t> Explica por qué el producto o servicio es único y por qué el visitante debería interesarse en él.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Llamados a la acción (CTA):</a:t>
            </a:r>
            <a:r>
              <a:rPr lang="es-419" sz="1000">
                <a:solidFill>
                  <a:schemeClr val="dk2"/>
                </a:solidFill>
              </a:rPr>
              <a:t> Botones o enlaces que invitan al usuario a tomar una acción, como comprar, suscribirse, registrarse, etc., ubicados estratégicamente para maximizar la tasa de conversión.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Formularios de contacto o suscripción:</a:t>
            </a:r>
            <a:r>
              <a:rPr lang="es-419" sz="1000">
                <a:solidFill>
                  <a:schemeClr val="dk2"/>
                </a:solidFill>
              </a:rPr>
              <a:t> Diseñados para ser lo más sencillos posible, con el fin de facilitar al usuario dejar sus datos de contacto o suscribirse a una lista de correos.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Pruebas de confianza:</a:t>
            </a:r>
            <a:r>
              <a:rPr lang="es-419" sz="1000">
                <a:solidFill>
                  <a:schemeClr val="dk2"/>
                </a:solidFill>
              </a:rPr>
              <a:t> Incluir testimonios, reseñas, logos de clientes o certificaciones que aumenten la credibilidad y confianza hacia el producto o servicio ofrecido.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El diseño de una landing page efectiva requiere un entendimiento profundo del público objetivo, un diseño web intuitivo y atractivo, así como una estrategia de contenido que guíe al visitante hacia la acción deseada. El objetivo final es maximizar la conversión de visitantes en clientes o leads cualificados. Este servicio es ampliamente utilizado en marketing digital, especialmente en campañas de publicidad pagada, email marketing, y en el lanzamiento de nuevos productos o servicios.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544875" y="224900"/>
            <a:ext cx="8269500" cy="4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</a:t>
            </a:r>
            <a:r>
              <a:rPr b="1" lang="es-419">
                <a:solidFill>
                  <a:schemeClr val="dk2"/>
                </a:solidFill>
              </a:rPr>
              <a:t>Qué</a:t>
            </a:r>
            <a:r>
              <a:rPr b="1" lang="es-419">
                <a:solidFill>
                  <a:schemeClr val="dk2"/>
                </a:solidFill>
              </a:rPr>
              <a:t> beneficios aporta el diseño de landing page?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Contar con una landing page bien diseñada y optimizada ofrece varios beneficios clave que pueden tener un impacto significativo en el éxito de las iniciativas de marketing y ventas en línea. Algunos de estos beneficios incluyen: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Mejora en la conversión de objetivos específicos:</a:t>
            </a:r>
            <a:r>
              <a:rPr lang="es-419" sz="1000">
                <a:solidFill>
                  <a:schemeClr val="dk2"/>
                </a:solidFill>
              </a:rPr>
              <a:t> Las landing pages están diseñadas con un objetivo claro en mente, como generar ventas, captar leads o inscribir usuarios a un evento. Al enfocar la atención del visitante en una única acción, las landing pages pueden aumentar significativamente las tasas de conversión en comparación con páginas generales del sitio.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Segmentación efectiva del público:</a:t>
            </a:r>
            <a:r>
              <a:rPr lang="es-419" sz="1000">
                <a:solidFill>
                  <a:schemeClr val="dk2"/>
                </a:solidFill>
              </a:rPr>
              <a:t> Permiten dirigir ofertas específicas a segmentos de audiencia distintos. Esto es especialmente útil en campañas publicitarias donde se pueden crear múltiples landing pages para abordar diferentes necesidades, intereses o etapas en el ciclo de compra del cliente.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Análisis y optimización:</a:t>
            </a:r>
            <a:r>
              <a:rPr lang="es-419" sz="1000">
                <a:solidFill>
                  <a:schemeClr val="dk2"/>
                </a:solidFill>
              </a:rPr>
              <a:t> Las landing pages facilitan el seguimiento de datos y análisis, permitiendo medir exactamente cómo los visitantes interactúan con la página. Esto incluye tasas de conversión, tiempo en la página, tasa de rebote, y otros indicadores clave de rendimiento (KPIs). Estos datos son cruciales para realizar ajustes y mejorar continuamente el rendimiento de la página.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Reducción del costo de adquisición de clientes (CAC):</a:t>
            </a:r>
            <a:r>
              <a:rPr lang="es-419" sz="1000">
                <a:solidFill>
                  <a:schemeClr val="dk2"/>
                </a:solidFill>
              </a:rPr>
              <a:t> Al aumentar las tasas de conversión, las landing pages pueden hacer más eficiente el gasto en publicidad y marketing, reduciendo el costo asociado con la adquisición de cada cliente o lead.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Mejora de la imagen de marca:</a:t>
            </a:r>
            <a:r>
              <a:rPr lang="es-419" sz="1000">
                <a:solidFill>
                  <a:schemeClr val="dk2"/>
                </a:solidFill>
              </a:rPr>
              <a:t> Una landing page profesional y bien diseñada refuerza la imagen de marca y contribuye a generar confianza en los visitantes. Al ofrecer una experiencia de usuario agradable y coherente, se fomenta una percepción positiva de la empresa.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Rapidez y flexibilidad en el marketing:</a:t>
            </a:r>
            <a:r>
              <a:rPr lang="es-419" sz="1000">
                <a:solidFill>
                  <a:schemeClr val="dk2"/>
                </a:solidFill>
              </a:rPr>
              <a:t> Las landing pages se pueden crear y modificar rápidamente, lo que permite a las empresas adaptarse con agilidad a cambios en el mercado, lanzar nuevas ofertas, probar estrategias diferentes y responder a las acciones de la competencia.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Mejora en el SEO:</a:t>
            </a:r>
            <a:r>
              <a:rPr lang="es-419" sz="1000">
                <a:solidFill>
                  <a:schemeClr val="dk2"/>
                </a:solidFill>
              </a:rPr>
              <a:t> Aunque las landing pages suelen estar más enfocadas en la conversión proveniente de tráfico directo o pagado, también pueden ser optimizadas para el SEO. Esto significa que pueden atraer tráfico orgánico cualificado si se enfocan correctamente en palabras clave relevantes y ofrecen contenido de valor.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Facilita el seguimiento de campañas:</a:t>
            </a:r>
            <a:r>
              <a:rPr lang="es-419" sz="1000">
                <a:solidFill>
                  <a:schemeClr val="dk2"/>
                </a:solidFill>
              </a:rPr>
              <a:t> Integrando herramientas de análisis y seguimiento, es posible medir el éxito de campañas específicas dirigidas a las landing pages, permitiendo una mejor asignación de recursos y estrategias más informadas.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En resumen, las landing pages son herramientas poderosas en el arsenal de marketing digital de cualquier empresa, proporcionando una plataforma eficaz para convertir el interés del visitante en acciones concretas que benefician a la empresa.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421350" y="341450"/>
            <a:ext cx="8102700" cy="4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¿Cuales son los pasos para cumplimentar este servicio?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Requisitos: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Brief web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Template de proyecto web.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Datos de acceso al hosting / alojamiento web.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65" name="Google Shape;65;p15"/>
          <p:cNvGrpSpPr/>
          <p:nvPr/>
        </p:nvGrpSpPr>
        <p:grpSpPr>
          <a:xfrm>
            <a:off x="366938" y="1340613"/>
            <a:ext cx="3507600" cy="1812038"/>
            <a:chOff x="359613" y="1654113"/>
            <a:chExt cx="3507600" cy="1812038"/>
          </a:xfrm>
        </p:grpSpPr>
        <p:cxnSp>
          <p:nvCxnSpPr>
            <p:cNvPr id="66" name="Google Shape;66;p15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7" name="Google Shape;67;p15"/>
            <p:cNvSpPr txBox="1"/>
            <p:nvPr/>
          </p:nvSpPr>
          <p:spPr>
            <a:xfrm>
              <a:off x="359613" y="25415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Reunión con el equipo de diseño gráfico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Discusión de la estructura del proyecto web.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8" name="Google Shape;68;p15"/>
          <p:cNvCxnSpPr/>
          <p:nvPr/>
        </p:nvCxnSpPr>
        <p:spPr>
          <a:xfrm rot="10800000">
            <a:off x="2649263" y="2794925"/>
            <a:ext cx="930000" cy="0"/>
          </a:xfrm>
          <a:prstGeom prst="straightConnector1">
            <a:avLst/>
          </a:prstGeom>
          <a:noFill/>
          <a:ln cap="flat" cmpd="sng" w="9525">
            <a:solidFill>
              <a:srgbClr val="1F887E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69" name="Google Shape;69;p15"/>
          <p:cNvGrpSpPr/>
          <p:nvPr/>
        </p:nvGrpSpPr>
        <p:grpSpPr>
          <a:xfrm>
            <a:off x="4665063" y="3078200"/>
            <a:ext cx="4162750" cy="924600"/>
            <a:chOff x="4657738" y="3391700"/>
            <a:chExt cx="4162750" cy="924600"/>
          </a:xfrm>
        </p:grpSpPr>
        <p:cxnSp>
          <p:nvCxnSpPr>
            <p:cNvPr id="70" name="Google Shape;70;p15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1" name="Google Shape;71;p15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Desarrollo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Puesta en marcha del diseño y desarrollo del proyecto web en cuestión.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5217163" y="929475"/>
            <a:ext cx="3610650" cy="924600"/>
            <a:chOff x="5209838" y="1242975"/>
            <a:chExt cx="3610650" cy="9246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Entrega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Entrega final del proyecto web.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" name="Google Shape;74;p15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5" name="Google Shape;75;p15"/>
          <p:cNvGrpSpPr/>
          <p:nvPr/>
        </p:nvGrpSpPr>
        <p:grpSpPr>
          <a:xfrm>
            <a:off x="5617613" y="1999850"/>
            <a:ext cx="3210200" cy="924600"/>
            <a:chOff x="5610288" y="2313350"/>
            <a:chExt cx="3210200" cy="924600"/>
          </a:xfrm>
        </p:grpSpPr>
        <p:cxnSp>
          <p:nvCxnSpPr>
            <p:cNvPr id="76" name="Google Shape;76;p15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7" name="Google Shape;77;p15"/>
            <p:cNvSpPr txBox="1"/>
            <p:nvPr/>
          </p:nvSpPr>
          <p:spPr>
            <a:xfrm>
              <a:off x="6696488" y="23133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Revisión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Primer presentación del proyecto para con el cliente y posteriores revisiones y ajustes.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2608561" y="341451"/>
            <a:ext cx="3922200" cy="3915924"/>
            <a:chOff x="2610905" y="610653"/>
            <a:chExt cx="3922200" cy="3922200"/>
          </a:xfrm>
        </p:grpSpPr>
        <p:sp>
          <p:nvSpPr>
            <p:cNvPr id="79" name="Google Shape;79;p15"/>
            <p:cNvSpPr/>
            <p:nvPr/>
          </p:nvSpPr>
          <p:spPr>
            <a:xfrm rot="-4980021">
              <a:off x="3204123" y="1186472"/>
              <a:ext cx="2771960" cy="2771960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rot="7920309">
              <a:off x="3183402" y="1183149"/>
              <a:ext cx="2777207" cy="277720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3600063">
              <a:off x="3186335" y="1195681"/>
              <a:ext cx="2777488" cy="2777488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rot="4024705">
              <a:off x="5326681" y="1940898"/>
              <a:ext cx="578477" cy="57914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B786F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6816027">
              <a:off x="5326729" y="1940918"/>
              <a:ext cx="578485" cy="57903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 rot="-9359762">
              <a:off x="3193941" y="1176205"/>
              <a:ext cx="2777287" cy="277728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-8936366">
              <a:off x="3659126" y="3173505"/>
              <a:ext cx="578551" cy="578963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F887E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 rot="1824498">
              <a:off x="3659375" y="3173497"/>
              <a:ext cx="578475" cy="57888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 rot="-600092">
              <a:off x="3198852" y="1195456"/>
              <a:ext cx="2777611" cy="2777611"/>
            </a:xfrm>
            <a:prstGeom prst="blockArc">
              <a:avLst>
                <a:gd fmla="val 12513247" name="adj1"/>
                <a:gd fmla="val 16867657" name="adj2"/>
                <a:gd fmla="val 20844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 rot="-176551">
              <a:off x="4312105" y="1195442"/>
              <a:ext cx="578563" cy="579162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55B5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 rot="10584085">
              <a:off x="4312088" y="1195622"/>
              <a:ext cx="578340" cy="578939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 rot="8344778">
              <a:off x="4940929" y="3162886"/>
              <a:ext cx="578465" cy="578888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D7E7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 rot="-2495643">
              <a:off x="4941000" y="3162728"/>
              <a:ext cx="578445" cy="579093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 rot="-4556960">
              <a:off x="3257335" y="1939059"/>
              <a:ext cx="578302" cy="57895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249C91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6204541">
              <a:off x="3257468" y="1938977"/>
              <a:ext cx="578264" cy="578917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4341900" y="127189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3602457" y="1676843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4955323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5364737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3685317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" name="Google Shape;99;p15"/>
          <p:cNvSpPr txBox="1"/>
          <p:nvPr/>
        </p:nvSpPr>
        <p:spPr>
          <a:xfrm>
            <a:off x="366938" y="1009325"/>
            <a:ext cx="2124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Roboto"/>
                <a:ea typeface="Roboto"/>
                <a:cs typeface="Roboto"/>
                <a:sym typeface="Roboto"/>
              </a:rPr>
              <a:t>Brief web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800">
                <a:latin typeface="Roboto"/>
                <a:ea typeface="Roboto"/>
                <a:cs typeface="Roboto"/>
                <a:sym typeface="Roboto"/>
              </a:rPr>
              <a:t>Diseño de brief web y recopilación de información para la web.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1556738" y="2445338"/>
            <a:ext cx="3507600" cy="1812038"/>
            <a:chOff x="359613" y="1654113"/>
            <a:chExt cx="3507600" cy="1812038"/>
          </a:xfrm>
        </p:grpSpPr>
        <p:cxnSp>
          <p:nvCxnSpPr>
            <p:cNvPr id="101" name="Google Shape;101;p15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02" name="Google Shape;102;p15"/>
            <p:cNvSpPr txBox="1"/>
            <p:nvPr/>
          </p:nvSpPr>
          <p:spPr>
            <a:xfrm>
              <a:off x="359613" y="25415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Primeras propuestas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Presentación de 3 propuestas, con sus respectivas revisiones y ajustes de ser necesario.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3" name="Google Shape;103;p15"/>
          <p:cNvSpPr txBox="1"/>
          <p:nvPr/>
        </p:nvSpPr>
        <p:spPr>
          <a:xfrm>
            <a:off x="3150388" y="2240285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552150" y="195875"/>
            <a:ext cx="79356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</a:t>
            </a:r>
            <a:r>
              <a:rPr b="1" lang="es-419">
                <a:solidFill>
                  <a:schemeClr val="dk2"/>
                </a:solidFill>
              </a:rPr>
              <a:t>Qué se obtiene con una landing page?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Una landing page, o página de aterrizaje, una página web con elementos de diseño y contenido persuasivo como títulos atractivos, imágenes o videos relevantes, testimonios de clientes, y un formulario sencillo para recolectar información de contacto o realizar una transacción. Diseñada específicamente para recibir a los visitantes que hacen clic en un enlace o anuncio publicitario desde otras plataformas como motores de búsqueda, campañas de publicidad digital, emails de marketing, o redes sociales.Su enfoque es una única acción o conversión deseada por parte del visitante. Esta acción puede ser realizar una compra, inscribirse a un boletín de noticias, descargar un recurso como un eBook o un whitepaper, registrarse para un evento, entre otros. Para incentivar al usuario a completar esta acción, la landing page utiliza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Los elementos clave que diferencian a una landing page incluyen: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Un enfoque único en la conversión:</a:t>
            </a:r>
            <a:r>
              <a:rPr lang="es-419" sz="1000">
                <a:solidFill>
                  <a:schemeClr val="dk2"/>
                </a:solidFill>
              </a:rPr>
              <a:t> A diferencia de las páginas de inicio o las páginas de productos, que pueden tener múltiples objetivos y enlaces a otras partes del sitio, las landing pages están diseñadas para guiar al visitante hacia una única acción.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Contenido personalizado y dirigido:</a:t>
            </a:r>
            <a:r>
              <a:rPr lang="es-419" sz="1000">
                <a:solidFill>
                  <a:schemeClr val="dk2"/>
                </a:solidFill>
              </a:rPr>
              <a:t> Se crea contenido específico que resuena con el público objetivo de la campaña, aumentando así las posibilidades de conversión.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Ausencia de distracciones:</a:t>
            </a:r>
            <a:r>
              <a:rPr lang="es-419" sz="1000">
                <a:solidFill>
                  <a:schemeClr val="dk2"/>
                </a:solidFill>
              </a:rPr>
              <a:t> Las landing pages suelen tener una navegación limitada o inexistente hacia otras partes del sitio web para mantener al visitante concentrado en la acción deseada.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Llamados a la acción claros y convincentes (CTA):</a:t>
            </a:r>
            <a:r>
              <a:rPr lang="es-419" sz="1000">
                <a:solidFill>
                  <a:schemeClr val="dk2"/>
                </a:solidFill>
              </a:rPr>
              <a:t> Se utilizan botones o enlaces destacados para incentivar al visitante a tomar la acción deseada, utilizando un lenguaje claro y persuasivo.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Las landing pages son herramientas esenciales en el marketing digital por su eficacia en convertir visitantes en leads o clientes, permitiendo a las empresas medir con precisión el retorno de inversión de sus campañas de marketing y publicidad.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