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Roboto"/>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fntdata"/><Relationship Id="rId10" Type="http://schemas.openxmlformats.org/officeDocument/2006/relationships/font" Target="fonts/Roboto-regular.fntdata"/><Relationship Id="rId13" Type="http://schemas.openxmlformats.org/officeDocument/2006/relationships/font" Target="fonts/Roboto-boldItalic.fntdata"/><Relationship Id="rId12"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f3b68104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f3b68104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f3b681049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f3b681049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f3b681049f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f3b681049f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44875" y="152350"/>
            <a:ext cx="8291100" cy="43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¿De qué se trata el servicio de diseño de tienda online?</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s-419" sz="1000">
                <a:solidFill>
                  <a:schemeClr val="dk2"/>
                </a:solidFill>
              </a:rPr>
              <a:t>El servicio de diseño web de tienda online se refiere a la creación profesional y personalizada de sitios web destinados a la venta de productos o servicios en línea. Este servicio abarca desde la conceptualización y planificación de la estructura del sitio hasta su diseño, desarrollo, y lanzamiento. También puede incluir el mantenimiento y la actualización continua del sitio web. Los aspectos clave de este servicio suelen incluir:</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Diseño personalizado:</a:t>
            </a:r>
            <a:r>
              <a:rPr lang="es-419" sz="1000">
                <a:solidFill>
                  <a:schemeClr val="dk2"/>
                </a:solidFill>
              </a:rPr>
              <a:t> Creación de un diseño atractivo y funcional que refleje la identidad de la marca, mejore la experiencia del usuario y facilite la navegación. Esto incluye la selección de colores, tipografías, disposición de elementos y uso de imágenes que resuenen con el público objetivo.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Catálogo de productos:</a:t>
            </a:r>
            <a:r>
              <a:rPr lang="es-419" sz="1000">
                <a:solidFill>
                  <a:schemeClr val="dk2"/>
                </a:solidFill>
              </a:rPr>
              <a:t> Implementación de un sistema para gestionar el catálogo de productos, que permite añadir, editar o eliminar productos fácilmente, junto con la gestión de categorías, variantes de productos (como tamaños y colores), y precios.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Carrito de compras y procesamiento de pagos:</a:t>
            </a:r>
            <a:r>
              <a:rPr lang="es-419" sz="1000">
                <a:solidFill>
                  <a:schemeClr val="dk2"/>
                </a:solidFill>
              </a:rPr>
              <a:t> Integración de un carrito de compras funcional y seguros sistemas de procesamiento de pagos para facilitar la compra en línea. Esto puede incluir la integración con plataformas de pago como PayPal, Stripe, y tarjetas de crédito, entre otros.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Optimización para motores de búsqueda (SEO):</a:t>
            </a:r>
            <a:r>
              <a:rPr lang="es-419" sz="1000">
                <a:solidFill>
                  <a:schemeClr val="dk2"/>
                </a:solidFill>
              </a:rPr>
              <a:t> Implementación de prácticas de SEO para mejorar la visibilidad del sitio web en los resultados de búsqueda de Google y otros motores de búsqueda. Esto puede incluir la optimización de etiquetas de título, descripciones, estructura de URLs, y contenido de calidad centrado en palabras clave relevantes.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Responsive design:</a:t>
            </a:r>
            <a:r>
              <a:rPr lang="es-419" sz="1000">
                <a:solidFill>
                  <a:schemeClr val="dk2"/>
                </a:solidFill>
              </a:rPr>
              <a:t> Diseño adaptativo que garantiza que la tienda online se vea y funcione correctamente en una variedad de dispositivos, incluidos teléfonos móviles, tabletas y computadoras de escritorio.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Funcionalidades avanzadas:</a:t>
            </a:r>
            <a:r>
              <a:rPr lang="es-419" sz="1000">
                <a:solidFill>
                  <a:schemeClr val="dk2"/>
                </a:solidFill>
              </a:rPr>
              <a:t> Incorporación de funcionalidades adicionales según las necesidades del negocio, como chat en vivo, sistemas de recomendación de productos, valoraciones y reseñas de clientes, y herramientas de análisis web para monitorear el rendimiento del sitio.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Seguridad:</a:t>
            </a:r>
            <a:r>
              <a:rPr lang="es-419" sz="1000">
                <a:solidFill>
                  <a:schemeClr val="dk2"/>
                </a:solidFill>
              </a:rPr>
              <a:t> Implementación de medidas de seguridad para proteger la tienda online y la información de los clientes, incluido el uso de certificados SSL, protección contra fraudes, y cumplimiento con estándares de seguridad de datos para pagos en línea (como PCI DSS).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Integración con otros sistemas:</a:t>
            </a:r>
            <a:r>
              <a:rPr lang="es-419" sz="1000">
                <a:solidFill>
                  <a:schemeClr val="dk2"/>
                </a:solidFill>
              </a:rPr>
              <a:t> Conexión del sitio web de la tienda online con sistemas externos como ERP, CRM, sistemas de gestión de inventario, y plataformas de marketing por correo electrónico, para automatizar y optimizar las operaciones del negocio.</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rPr lang="es-419" sz="1000">
                <a:solidFill>
                  <a:schemeClr val="dk2"/>
                </a:solidFill>
              </a:rPr>
              <a:t>El servicio de diseño web de tienda online es esencial para los negocios que buscan vender en línea, ya que proporciona una plataforma profesional y eficiente para alcanzar a los clientes, ofrecer sus productos o servicios, y generar ingresos a través de internet. Este servicio no solo se enfoca en la estética del sitio, sino también en su funcionalidad, seguridad, y capacidad para escalar a medida que el negocio crece.</a:t>
            </a:r>
            <a:endParaRPr sz="10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544875" y="224900"/>
            <a:ext cx="8269500" cy="45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a:t>
            </a:r>
            <a:r>
              <a:rPr b="1" lang="es-419">
                <a:solidFill>
                  <a:schemeClr val="dk2"/>
                </a:solidFill>
              </a:rPr>
              <a:t>Qué</a:t>
            </a:r>
            <a:r>
              <a:rPr b="1" lang="es-419">
                <a:solidFill>
                  <a:schemeClr val="dk2"/>
                </a:solidFill>
              </a:rPr>
              <a:t> beneficios aporta el diseño de tienda online?</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Una tienda online ofrece múltiples beneficios tanto para los negocios como para los consumidores, facilitando el comercio electrónico y transformando la manera en que se compran y venden productos y servicios. Aquí se detallan algunos de los beneficios más significativos:</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Accesibilidad 24/7:</a:t>
            </a:r>
            <a:r>
              <a:rPr lang="es-419" sz="1000">
                <a:solidFill>
                  <a:schemeClr val="dk2"/>
                </a:solidFill>
              </a:rPr>
              <a:t> Las tiendas online están disponibles las 24 horas del día, los 7 días de la semana, lo que permite a los clientes realizar compras en cualquier momento y desde cualquier lugar, sin las limitaciones de horario de las tiendas físicas.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Alcance global:</a:t>
            </a:r>
            <a:r>
              <a:rPr lang="es-419" sz="1000">
                <a:solidFill>
                  <a:schemeClr val="dk2"/>
                </a:solidFill>
              </a:rPr>
              <a:t> Una tienda online tiene el potencial de alcanzar a clientes a nivel mundial, eliminando las barreras geográficas y permitiendo a los negocios expandir su mercado mucho más allá de su ubicación física.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Reducción de costos:</a:t>
            </a:r>
            <a:r>
              <a:rPr lang="es-419" sz="1000">
                <a:solidFill>
                  <a:schemeClr val="dk2"/>
                </a:solidFill>
              </a:rPr>
              <a:t> Al operar en línea, se pueden reducir o eliminar muchos de los costos asociados con una tienda física, como el alquiler del local, los servicios públicos y una gran parte del personal. Esto puede permitir ofrecer precios más competitivos y/o mejorar los márgenes de beneficio.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Personalización y recomendaciones:</a:t>
            </a:r>
            <a:r>
              <a:rPr lang="es-419" sz="1000">
                <a:solidFill>
                  <a:schemeClr val="dk2"/>
                </a:solidFill>
              </a:rPr>
              <a:t> Las tiendas online pueden recopilar datos sobre las preferencias y comportamientos de compra de los clientes, permitiendo ofrecer una experiencia personalizada y recomendar productos específicos que puedan ser de interés para cada cliente.</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Facilidad de búsqueda y comparación:</a:t>
            </a:r>
            <a:r>
              <a:rPr lang="es-419" sz="1000">
                <a:solidFill>
                  <a:schemeClr val="dk2"/>
                </a:solidFill>
              </a:rPr>
              <a:t> Los consumidores pueden buscar fácilmente productos específicos, comparar precios, características y reseñas de otros compradores antes de tomar una decisión de compra, todo desde la comodidad de su hogar.</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Operaciones eficientes:</a:t>
            </a:r>
            <a:r>
              <a:rPr lang="es-419" sz="1000">
                <a:solidFill>
                  <a:schemeClr val="dk2"/>
                </a:solidFill>
              </a:rPr>
              <a:t> La gestión de inventario y pedidos puede ser más eficiente en una tienda online, gracias a sistemas automatizados que actualizan el stock en tiempo real y facilitan el proceso de cumplimiento de pedidos.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Marketing y análisis de datos:</a:t>
            </a:r>
            <a:r>
              <a:rPr lang="es-419" sz="1000">
                <a:solidFill>
                  <a:schemeClr val="dk2"/>
                </a:solidFill>
              </a:rPr>
              <a:t> Las tiendas online pueden beneficiarse de estrategias de marketing digital dirigidas, como SEO, publicidad en redes sociales y email marketing. Además, la capacidad para analizar datos detallados sobre el comportamiento de los usuarios permite optimizar estrategias de venta y marketing.</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Escalabilidad:</a:t>
            </a:r>
            <a:r>
              <a:rPr lang="es-419" sz="1000">
                <a:solidFill>
                  <a:schemeClr val="dk2"/>
                </a:solidFill>
              </a:rPr>
              <a:t> A medida que el negocio crece, es más sencillo escalar una tienda online, agregando más productos o ampliando las categorías, sin la necesidad de un espacio físico más grande.</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Sostenibilidad:</a:t>
            </a:r>
            <a:r>
              <a:rPr lang="es-419" sz="1000">
                <a:solidFill>
                  <a:schemeClr val="dk2"/>
                </a:solidFill>
              </a:rPr>
              <a:t> Al reducir la necesidad de espacios físicos y al optimizar la logística, las tiendas online pueden contribuir a reducir el impacto ambiental asociado con el comercio tradicional.</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Mejora en la experiencia del cliente:</a:t>
            </a:r>
            <a:r>
              <a:rPr lang="es-419" sz="1000">
                <a:solidFill>
                  <a:schemeClr val="dk2"/>
                </a:solidFill>
              </a:rPr>
              <a:t> Con funcionalidades como chat en vivo, soporte al cliente, y políticas claras de devolución, las tiendas online pueden ofrecer una experiencia de compra satisfactoria y conveniente.</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La combinación de estos beneficios hace que las tiendas online sean una opción atractiva para empresas de todos los tamaños, desde pequeños emprendimientos hasta grandes corporaciones, permitiéndoles competir en el mercado global, mejorar sus operaciones y satisfacer las crecientes expectativas de los consumidores en la era digital.</a:t>
            </a:r>
            <a:endParaRPr sz="1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nvSpPr>
        <p:spPr>
          <a:xfrm>
            <a:off x="421350" y="341450"/>
            <a:ext cx="8102700" cy="45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¿Cuales son los pasos para cumplimentar este servicio?</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s-419" sz="1000">
                <a:solidFill>
                  <a:schemeClr val="dk2"/>
                </a:solidFill>
              </a:rPr>
              <a:t>Requisitos: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Brief web</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Template de proyecto web.</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Datos de acceso al hosting / alojamiento web.</a:t>
            </a:r>
            <a:endParaRPr sz="1000">
              <a:solidFill>
                <a:schemeClr val="dk2"/>
              </a:solidFill>
            </a:endParaRPr>
          </a:p>
        </p:txBody>
      </p:sp>
      <p:grpSp>
        <p:nvGrpSpPr>
          <p:cNvPr id="65" name="Google Shape;65;p15"/>
          <p:cNvGrpSpPr/>
          <p:nvPr/>
        </p:nvGrpSpPr>
        <p:grpSpPr>
          <a:xfrm>
            <a:off x="366938" y="1340613"/>
            <a:ext cx="3507600" cy="1812038"/>
            <a:chOff x="359613" y="1654113"/>
            <a:chExt cx="3507600" cy="1812038"/>
          </a:xfrm>
        </p:grpSpPr>
        <p:cxnSp>
          <p:nvCxnSpPr>
            <p:cNvPr id="66" name="Google Shape;66;p15"/>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67" name="Google Shape;67;p15"/>
            <p:cNvSpPr txBox="1"/>
            <p:nvPr/>
          </p:nvSpPr>
          <p:spPr>
            <a:xfrm>
              <a:off x="359613" y="2541550"/>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Reunión con el equipo de diseño gráfico</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Discusión de la estructura del proyecto web.</a:t>
              </a:r>
              <a:endParaRPr sz="800">
                <a:latin typeface="Roboto"/>
                <a:ea typeface="Roboto"/>
                <a:cs typeface="Roboto"/>
                <a:sym typeface="Roboto"/>
              </a:endParaRPr>
            </a:p>
          </p:txBody>
        </p:sp>
      </p:grpSp>
      <p:cxnSp>
        <p:nvCxnSpPr>
          <p:cNvPr id="68" name="Google Shape;68;p15"/>
          <p:cNvCxnSpPr/>
          <p:nvPr/>
        </p:nvCxnSpPr>
        <p:spPr>
          <a:xfrm rot="10800000">
            <a:off x="2649263" y="2794925"/>
            <a:ext cx="930000" cy="0"/>
          </a:xfrm>
          <a:prstGeom prst="straightConnector1">
            <a:avLst/>
          </a:prstGeom>
          <a:noFill/>
          <a:ln cap="flat" cmpd="sng" w="9525">
            <a:solidFill>
              <a:srgbClr val="1F887E"/>
            </a:solidFill>
            <a:prstDash val="solid"/>
            <a:round/>
            <a:headEnd len="sm" w="sm" type="none"/>
            <a:tailEnd len="med" w="med" type="oval"/>
          </a:ln>
        </p:spPr>
      </p:cxnSp>
      <p:grpSp>
        <p:nvGrpSpPr>
          <p:cNvPr id="69" name="Google Shape;69;p15"/>
          <p:cNvGrpSpPr/>
          <p:nvPr/>
        </p:nvGrpSpPr>
        <p:grpSpPr>
          <a:xfrm>
            <a:off x="4665063" y="3078200"/>
            <a:ext cx="4162750" cy="924600"/>
            <a:chOff x="4657738" y="3391700"/>
            <a:chExt cx="4162750" cy="924600"/>
          </a:xfrm>
        </p:grpSpPr>
        <p:cxnSp>
          <p:nvCxnSpPr>
            <p:cNvPr id="70" name="Google Shape;70;p15"/>
            <p:cNvCxnSpPr/>
            <p:nvPr/>
          </p:nvCxnSpPr>
          <p:spPr>
            <a:xfrm>
              <a:off x="4657738" y="3854000"/>
              <a:ext cx="1838700" cy="0"/>
            </a:xfrm>
            <a:prstGeom prst="straightConnector1">
              <a:avLst/>
            </a:prstGeom>
            <a:noFill/>
            <a:ln cap="flat" cmpd="sng" w="9525">
              <a:solidFill>
                <a:srgbClr val="1D7E75"/>
              </a:solidFill>
              <a:prstDash val="solid"/>
              <a:round/>
              <a:headEnd len="sm" w="sm" type="none"/>
              <a:tailEnd len="med" w="med" type="oval"/>
            </a:ln>
          </p:spPr>
        </p:cxnSp>
        <p:sp>
          <p:nvSpPr>
            <p:cNvPr id="71" name="Google Shape;71;p15"/>
            <p:cNvSpPr txBox="1"/>
            <p:nvPr/>
          </p:nvSpPr>
          <p:spPr>
            <a:xfrm>
              <a:off x="6696488" y="3391700"/>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Desarrollo del proyecto web</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Puesta en marcha del diseño y desarrollo del proyecto web en cuestión.</a:t>
              </a:r>
              <a:endParaRPr b="1" sz="800">
                <a:latin typeface="Roboto"/>
                <a:ea typeface="Roboto"/>
                <a:cs typeface="Roboto"/>
                <a:sym typeface="Roboto"/>
              </a:endParaRPr>
            </a:p>
          </p:txBody>
        </p:sp>
      </p:grpSp>
      <p:grpSp>
        <p:nvGrpSpPr>
          <p:cNvPr id="72" name="Google Shape;72;p15"/>
          <p:cNvGrpSpPr/>
          <p:nvPr/>
        </p:nvGrpSpPr>
        <p:grpSpPr>
          <a:xfrm>
            <a:off x="5217163" y="929475"/>
            <a:ext cx="3610650" cy="924600"/>
            <a:chOff x="5209838" y="1242975"/>
            <a:chExt cx="3610650" cy="924600"/>
          </a:xfrm>
        </p:grpSpPr>
        <p:sp>
          <p:nvSpPr>
            <p:cNvPr id="73" name="Google Shape;73;p15"/>
            <p:cNvSpPr txBox="1"/>
            <p:nvPr/>
          </p:nvSpPr>
          <p:spPr>
            <a:xfrm>
              <a:off x="6696488" y="1242975"/>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Entrega del proyecto web</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Entrega final del proyecto web.</a:t>
              </a:r>
              <a:endParaRPr b="1" sz="800">
                <a:latin typeface="Roboto"/>
                <a:ea typeface="Roboto"/>
                <a:cs typeface="Roboto"/>
                <a:sym typeface="Roboto"/>
              </a:endParaRPr>
            </a:p>
          </p:txBody>
        </p:sp>
        <p:cxnSp>
          <p:nvCxnSpPr>
            <p:cNvPr id="74" name="Google Shape;74;p15"/>
            <p:cNvCxnSpPr/>
            <p:nvPr/>
          </p:nvCxnSpPr>
          <p:spPr>
            <a:xfrm>
              <a:off x="5209838" y="1654113"/>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75" name="Google Shape;75;p15"/>
          <p:cNvGrpSpPr/>
          <p:nvPr/>
        </p:nvGrpSpPr>
        <p:grpSpPr>
          <a:xfrm>
            <a:off x="5617613" y="1999850"/>
            <a:ext cx="3210200" cy="924600"/>
            <a:chOff x="5610288" y="2313350"/>
            <a:chExt cx="3210200" cy="924600"/>
          </a:xfrm>
        </p:grpSpPr>
        <p:cxnSp>
          <p:nvCxnSpPr>
            <p:cNvPr id="76" name="Google Shape;76;p15"/>
            <p:cNvCxnSpPr/>
            <p:nvPr/>
          </p:nvCxnSpPr>
          <p:spPr>
            <a:xfrm>
              <a:off x="5610288" y="2775650"/>
              <a:ext cx="886200" cy="0"/>
            </a:xfrm>
            <a:prstGeom prst="straightConnector1">
              <a:avLst/>
            </a:prstGeom>
            <a:noFill/>
            <a:ln cap="flat" cmpd="sng" w="9525">
              <a:solidFill>
                <a:srgbClr val="1B786F"/>
              </a:solidFill>
              <a:prstDash val="solid"/>
              <a:round/>
              <a:headEnd len="sm" w="sm" type="none"/>
              <a:tailEnd len="med" w="med" type="oval"/>
            </a:ln>
          </p:spPr>
        </p:cxnSp>
        <p:sp>
          <p:nvSpPr>
            <p:cNvPr id="77" name="Google Shape;77;p15"/>
            <p:cNvSpPr txBox="1"/>
            <p:nvPr/>
          </p:nvSpPr>
          <p:spPr>
            <a:xfrm>
              <a:off x="6696488" y="2313350"/>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Revisión del proyecto web</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Primer presentación del proyecto para con el cliente y posteriores revisiones y ajustes.</a:t>
              </a:r>
              <a:endParaRPr b="1" sz="800">
                <a:latin typeface="Roboto"/>
                <a:ea typeface="Roboto"/>
                <a:cs typeface="Roboto"/>
                <a:sym typeface="Roboto"/>
              </a:endParaRPr>
            </a:p>
          </p:txBody>
        </p:sp>
      </p:grpSp>
      <p:grpSp>
        <p:nvGrpSpPr>
          <p:cNvPr id="78" name="Google Shape;78;p15"/>
          <p:cNvGrpSpPr/>
          <p:nvPr/>
        </p:nvGrpSpPr>
        <p:grpSpPr>
          <a:xfrm>
            <a:off x="2608561" y="341451"/>
            <a:ext cx="3922200" cy="3915924"/>
            <a:chOff x="2610905" y="610653"/>
            <a:chExt cx="3922200" cy="3922200"/>
          </a:xfrm>
        </p:grpSpPr>
        <p:sp>
          <p:nvSpPr>
            <p:cNvPr id="79" name="Google Shape;79;p15"/>
            <p:cNvSpPr/>
            <p:nvPr/>
          </p:nvSpPr>
          <p:spPr>
            <a:xfrm rot="-4980021">
              <a:off x="3204123" y="1186472"/>
              <a:ext cx="2771960" cy="2771960"/>
            </a:xfrm>
            <a:prstGeom prst="blockArc">
              <a:avLst>
                <a:gd fmla="val 12602522" name="adj1"/>
                <a:gd fmla="val 16867657" name="adj2"/>
                <a:gd fmla="val 20844" name="adj3"/>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rot="7920309">
              <a:off x="3183402" y="1183149"/>
              <a:ext cx="2777207" cy="2777207"/>
            </a:xfrm>
            <a:prstGeom prst="blockArc">
              <a:avLst>
                <a:gd fmla="val 12602522" name="adj1"/>
                <a:gd fmla="val 16867657" name="adj2"/>
                <a:gd fmla="val 20844" name="adj3"/>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rot="3600063">
              <a:off x="3186335" y="1195681"/>
              <a:ext cx="2777488" cy="2777488"/>
            </a:xfrm>
            <a:prstGeom prst="blockArc">
              <a:avLst>
                <a:gd fmla="val 12602522" name="adj1"/>
                <a:gd fmla="val 16867657" name="adj2"/>
                <a:gd fmla="val 20844" name="adj3"/>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rot="4024705">
              <a:off x="5326681" y="1940898"/>
              <a:ext cx="578477" cy="579147"/>
            </a:xfrm>
            <a:prstGeom prst="pie">
              <a:avLst>
                <a:gd fmla="val 6190354" name="adj1"/>
                <a:gd fmla="val 14996165" name="adj2"/>
              </a:avLst>
            </a:prstGeom>
            <a:solidFill>
              <a:srgbClr val="1B786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rot="-6816027">
              <a:off x="5326729" y="1940918"/>
              <a:ext cx="578485" cy="579035"/>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rot="-9359762">
              <a:off x="3193941" y="1176205"/>
              <a:ext cx="2777287" cy="2777287"/>
            </a:xfrm>
            <a:prstGeom prst="blockArc">
              <a:avLst>
                <a:gd fmla="val 12602522" name="adj1"/>
                <a:gd fmla="val 16867657" name="adj2"/>
                <a:gd fmla="val 20844" name="adj3"/>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rot="-8936366">
              <a:off x="3659126" y="3173505"/>
              <a:ext cx="578551" cy="578963"/>
            </a:xfrm>
            <a:prstGeom prst="pie">
              <a:avLst>
                <a:gd fmla="val 6190354" name="adj1"/>
                <a:gd fmla="val 14996165" name="adj2"/>
              </a:avLst>
            </a:prstGeom>
            <a:solidFill>
              <a:srgbClr val="1F887E"/>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rot="1824498">
              <a:off x="3659375" y="3173497"/>
              <a:ext cx="578475" cy="578885"/>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rot="-600092">
              <a:off x="3198852" y="1195456"/>
              <a:ext cx="2777611" cy="2777611"/>
            </a:xfrm>
            <a:prstGeom prst="blockArc">
              <a:avLst>
                <a:gd fmla="val 12513247" name="adj1"/>
                <a:gd fmla="val 16867657" name="adj2"/>
                <a:gd fmla="val 20844" name="adj3"/>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rot="-176551">
              <a:off x="4312105" y="1195442"/>
              <a:ext cx="578563" cy="579162"/>
            </a:xfrm>
            <a:prstGeom prst="pie">
              <a:avLst>
                <a:gd fmla="val 6190354" name="adj1"/>
                <a:gd fmla="val 14996165" name="adj2"/>
              </a:avLst>
            </a:prstGeom>
            <a:solidFill>
              <a:srgbClr val="155B5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rot="10584085">
              <a:off x="4312088" y="1195622"/>
              <a:ext cx="578340" cy="578939"/>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rot="8344778">
              <a:off x="4940929" y="3162886"/>
              <a:ext cx="578465" cy="578888"/>
            </a:xfrm>
            <a:prstGeom prst="pie">
              <a:avLst>
                <a:gd fmla="val 6190354" name="adj1"/>
                <a:gd fmla="val 14996165" name="adj2"/>
              </a:avLst>
            </a:prstGeom>
            <a:solidFill>
              <a:srgbClr val="1D7E7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rot="-2495643">
              <a:off x="4941000" y="3162728"/>
              <a:ext cx="578445" cy="579093"/>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rot="-4556960">
              <a:off x="3257335" y="1939059"/>
              <a:ext cx="578302" cy="578957"/>
            </a:xfrm>
            <a:prstGeom prst="pie">
              <a:avLst>
                <a:gd fmla="val 6190354" name="adj1"/>
                <a:gd fmla="val 14996165" name="adj2"/>
              </a:avLst>
            </a:prstGeom>
            <a:solidFill>
              <a:srgbClr val="249C91"/>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rot="6204541">
              <a:off x="3257468" y="1938977"/>
              <a:ext cx="578264" cy="578917"/>
            </a:xfrm>
            <a:prstGeom prst="pie">
              <a:avLst>
                <a:gd fmla="val 4028252" name="adj1"/>
                <a:gd fmla="val 17183677" name="adj2"/>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txBox="1"/>
            <p:nvPr/>
          </p:nvSpPr>
          <p:spPr>
            <a:xfrm>
              <a:off x="4341900" y="1271896"/>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06</a:t>
              </a:r>
              <a:endParaRPr b="1" sz="1600">
                <a:solidFill>
                  <a:srgbClr val="FFFFFF"/>
                </a:solidFill>
                <a:latin typeface="Roboto"/>
                <a:ea typeface="Roboto"/>
                <a:cs typeface="Roboto"/>
                <a:sym typeface="Roboto"/>
              </a:endParaRPr>
            </a:p>
          </p:txBody>
        </p:sp>
        <p:sp>
          <p:nvSpPr>
            <p:cNvPr id="95" name="Google Shape;95;p15"/>
            <p:cNvSpPr txBox="1"/>
            <p:nvPr/>
          </p:nvSpPr>
          <p:spPr>
            <a:xfrm>
              <a:off x="3602457" y="167684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sp>
          <p:nvSpPr>
            <p:cNvPr id="96" name="Google Shape;96;p15"/>
            <p:cNvSpPr txBox="1"/>
            <p:nvPr/>
          </p:nvSpPr>
          <p:spPr>
            <a:xfrm>
              <a:off x="4955323" y="324732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a:p>
              <a:pPr indent="0" lvl="0" marL="0" rtl="0" algn="ctr">
                <a:spcBef>
                  <a:spcPts val="0"/>
                </a:spcBef>
                <a:spcAft>
                  <a:spcPts val="0"/>
                </a:spcAft>
                <a:buNone/>
              </a:pPr>
              <a:r>
                <a:t/>
              </a:r>
              <a:endParaRPr b="1" sz="1600">
                <a:solidFill>
                  <a:srgbClr val="FFFFFF"/>
                </a:solidFill>
                <a:latin typeface="Roboto"/>
                <a:ea typeface="Roboto"/>
                <a:cs typeface="Roboto"/>
                <a:sym typeface="Roboto"/>
              </a:endParaRPr>
            </a:p>
          </p:txBody>
        </p:sp>
        <p:sp>
          <p:nvSpPr>
            <p:cNvPr id="97" name="Google Shape;97;p15"/>
            <p:cNvSpPr txBox="1"/>
            <p:nvPr/>
          </p:nvSpPr>
          <p:spPr>
            <a:xfrm>
              <a:off x="5364737" y="2018364"/>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a:p>
              <a:pPr indent="0" lvl="0" marL="0" rtl="0" algn="ctr">
                <a:spcBef>
                  <a:spcPts val="0"/>
                </a:spcBef>
                <a:spcAft>
                  <a:spcPts val="0"/>
                </a:spcAft>
                <a:buNone/>
              </a:pPr>
              <a:r>
                <a:t/>
              </a:r>
              <a:endParaRPr b="1" sz="1600">
                <a:solidFill>
                  <a:srgbClr val="FFFFFF"/>
                </a:solidFill>
                <a:latin typeface="Roboto"/>
                <a:ea typeface="Roboto"/>
                <a:cs typeface="Roboto"/>
                <a:sym typeface="Roboto"/>
              </a:endParaRPr>
            </a:p>
          </p:txBody>
        </p:sp>
        <p:sp>
          <p:nvSpPr>
            <p:cNvPr id="98" name="Google Shape;98;p15"/>
            <p:cNvSpPr txBox="1"/>
            <p:nvPr/>
          </p:nvSpPr>
          <p:spPr>
            <a:xfrm>
              <a:off x="3685317" y="324732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sp>
        <p:nvSpPr>
          <p:cNvPr id="99" name="Google Shape;99;p15"/>
          <p:cNvSpPr txBox="1"/>
          <p:nvPr/>
        </p:nvSpPr>
        <p:spPr>
          <a:xfrm>
            <a:off x="366938" y="1009325"/>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Brief web</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Diseño de brief web y recopilación de información para la web.</a:t>
            </a:r>
            <a:endParaRPr sz="800">
              <a:latin typeface="Roboto"/>
              <a:ea typeface="Roboto"/>
              <a:cs typeface="Roboto"/>
              <a:sym typeface="Roboto"/>
            </a:endParaRPr>
          </a:p>
        </p:txBody>
      </p:sp>
      <p:grpSp>
        <p:nvGrpSpPr>
          <p:cNvPr id="100" name="Google Shape;100;p15"/>
          <p:cNvGrpSpPr/>
          <p:nvPr/>
        </p:nvGrpSpPr>
        <p:grpSpPr>
          <a:xfrm>
            <a:off x="1556738" y="2445338"/>
            <a:ext cx="3507600" cy="1812038"/>
            <a:chOff x="359613" y="1654113"/>
            <a:chExt cx="3507600" cy="1812038"/>
          </a:xfrm>
        </p:grpSpPr>
        <p:cxnSp>
          <p:nvCxnSpPr>
            <p:cNvPr id="101" name="Google Shape;101;p15"/>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102" name="Google Shape;102;p15"/>
            <p:cNvSpPr txBox="1"/>
            <p:nvPr/>
          </p:nvSpPr>
          <p:spPr>
            <a:xfrm>
              <a:off x="359613" y="2541550"/>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Primeras propuestas</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Presentación de 3 propuestas, con sus respectivas revisiones y ajustes de ser necesario.</a:t>
              </a:r>
              <a:endParaRPr sz="800">
                <a:latin typeface="Roboto"/>
                <a:ea typeface="Roboto"/>
                <a:cs typeface="Roboto"/>
                <a:sym typeface="Roboto"/>
              </a:endParaRPr>
            </a:p>
          </p:txBody>
        </p:sp>
      </p:grpSp>
      <p:sp>
        <p:nvSpPr>
          <p:cNvPr id="103" name="Google Shape;103;p15"/>
          <p:cNvSpPr txBox="1"/>
          <p:nvPr/>
        </p:nvSpPr>
        <p:spPr>
          <a:xfrm>
            <a:off x="3150388" y="2240285"/>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nvSpPr>
        <p:spPr>
          <a:xfrm>
            <a:off x="552150" y="195875"/>
            <a:ext cx="7935600" cy="44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¿Qué se obtiene con el diseño de tienda online?</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Cuando un cliente contrata el servicio de diseño web para una tienda online, obtiene una serie de beneficios y recursos clave que son esenciales para establecer y operar un negocio de comercio electrónico exitoso. Estos incluyen:</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Presencia online profesional:</a:t>
            </a:r>
            <a:r>
              <a:rPr lang="es-419" sz="1000">
                <a:solidFill>
                  <a:schemeClr val="dk2"/>
                </a:solidFill>
              </a:rPr>
              <a:t> Una tienda online bien diseñada ofrece una representación profesional de la marca en internet, lo cual es crucial para ganar la confianza de los consumidores y establecer credibilidad en el mercado.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Acceso a un mercado más amplio:</a:t>
            </a:r>
            <a:r>
              <a:rPr lang="es-419" sz="1000">
                <a:solidFill>
                  <a:schemeClr val="dk2"/>
                </a:solidFill>
              </a:rPr>
              <a:t> A diferencia de una tienda física, una tienda online permite a los negocios alcanzar a clientes potenciales a nivel local, nacional e incluso internacional, eliminando las barreras geográficas.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Operación continua 24/7:</a:t>
            </a:r>
            <a:r>
              <a:rPr lang="es-419" sz="1000">
                <a:solidFill>
                  <a:schemeClr val="dk2"/>
                </a:solidFill>
              </a:rPr>
              <a:t> La tienda online está disponible las 24 horas del día, los 7 días de la semana, lo que significa que los clientes pueden realizar compras en cualquier momento, aumentando las oportunidades de venta.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Análisis y seguimiento de datos:</a:t>
            </a:r>
            <a:r>
              <a:rPr lang="es-419" sz="1000">
                <a:solidFill>
                  <a:schemeClr val="dk2"/>
                </a:solidFill>
              </a:rPr>
              <a:t> Con herramientas de análisis web integradas, los propietarios de negocios pueden monitorear el comportamiento de los usuarios en su sitio, lo que les permite tomar decisiones informadas basadas en datos reales para mejorar su oferta y estrategia de marketing.</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Optimización para motores de búsqueda (SEO):</a:t>
            </a:r>
            <a:r>
              <a:rPr lang="es-419" sz="1000">
                <a:solidFill>
                  <a:schemeClr val="dk2"/>
                </a:solidFill>
              </a:rPr>
              <a:t> La tienda online se beneficia de prácticas de SEO, lo que mejora su visibilidad en los motores de búsqueda y atrae tráfico orgánico de alta calidad.</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Experiencia de usuario personalizada y mejorada:</a:t>
            </a:r>
            <a:r>
              <a:rPr lang="es-419" sz="1000">
                <a:solidFill>
                  <a:schemeClr val="dk2"/>
                </a:solidFill>
              </a:rPr>
              <a:t> Diseño responsive que asegura una experiencia de usuario óptima en cualquier dispositivo, además de características como búsqueda de productos, recomendaciones y filtros que facilitan la navegación.</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Gestión eficiente de inventario y pedidos: Sistemas automatizados para la gestión de inventario y procesamiento de pedidos que reducen el tiempo y los errores asociados con la gestión manual, mejorando la eficiencia operativa.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Diversas opciones de pago:</a:t>
            </a:r>
            <a:r>
              <a:rPr lang="es-419" sz="1000">
                <a:solidFill>
                  <a:schemeClr val="dk2"/>
                </a:solidFill>
              </a:rPr>
              <a:t> Integración de múltiples métodos de pago para ofrecer a los clientes flexibilidad y conveniencia, incrementando las tasas de conversión.</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Mejora en el servicio al cliente:</a:t>
            </a:r>
            <a:r>
              <a:rPr lang="es-419" sz="1000">
                <a:solidFill>
                  <a:schemeClr val="dk2"/>
                </a:solidFill>
              </a:rPr>
              <a:t> Herramientas como el chat en vivo y sistemas de soporte al cliente pueden integrarse en la tienda online para ofrecer asistencia inmediata, mejorando la satisfacción del cliente.</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Marketing digital efectivo:</a:t>
            </a:r>
            <a:r>
              <a:rPr lang="es-419" sz="1000">
                <a:solidFill>
                  <a:schemeClr val="dk2"/>
                </a:solidFill>
              </a:rPr>
              <a:t> La tienda online puede ser el centro de diversas estrategias de marketing digital, incluidas campañas de email marketing, publicidad en redes sociales, y marketing de contenido, lo cual puede aumentar el alcance y la eficacia de las actividades promocionales.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Es</a:t>
            </a:r>
            <a:r>
              <a:rPr lang="es-419" sz="1000" u="sng">
                <a:solidFill>
                  <a:schemeClr val="dk2"/>
                </a:solidFill>
              </a:rPr>
              <a:t>calabilidad:</a:t>
            </a:r>
            <a:r>
              <a:rPr lang="es-419" sz="1000">
                <a:solidFill>
                  <a:schemeClr val="dk2"/>
                </a:solidFill>
              </a:rPr>
              <a:t> La capacidad de escalar el negocio fácilmente, añadiendo nuevos productos, categorías, y funcionalidades según sea necesario sin la limitación física de espacio o ubicación.</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Al contratar el servicio de diseño web para una tienda online, el cliente no solo adquiere un sitio web, sino una solución de negocio integral que abarca desde la tecnología y el diseño hasta el marketing y la operatividad, todo lo cual es fundamental para el éxito en el competitivo entorno del comercio electrónico.</a:t>
            </a:r>
            <a:endParaRPr sz="1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