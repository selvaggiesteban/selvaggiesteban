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f3b6810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f3b6810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f3b68104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f3b68104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f3b681049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f3b681049f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44875" y="152350"/>
            <a:ext cx="8291100" cy="43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¿De qué se trata el servicio de diseño web?</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El servicio de diseño web implica la creación, el desarrollo y la optimización de sitios web para que sean visualmente atractivos, fáciles de usar y funcionales. Esto incluye una variedad de actividades y habilidades, como:</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Diseño Gráfico Web:</a:t>
            </a:r>
            <a:r>
              <a:rPr lang="es-419" sz="1000">
                <a:solidFill>
                  <a:schemeClr val="dk2"/>
                </a:solidFill>
              </a:rPr>
              <a:t> Se refiere a la estética del sitio web, incluyendo la selección de colores, fuentes, imágenes y la disposición general de los elementos visuales. El objetivo es crear un sitio que no solo sea atractivo a nivel visual, sino que también refleje la marca y el mensaje del cliente.</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Diseño de Interfaz de Usuario (UI):</a:t>
            </a:r>
            <a:r>
              <a:rPr lang="es-419" sz="1000">
                <a:solidFill>
                  <a:schemeClr val="dk2"/>
                </a:solidFill>
              </a:rPr>
              <a:t> Centrado en mejorar la experiencia del usuario al interactuar con el sitio web. Esto incluye el diseño de páginas fáciles de navegar, botones, iconos y otros elementos interactivos.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Experiencia de Usuario (UX): </a:t>
            </a:r>
            <a:r>
              <a:rPr lang="es-419" sz="1000">
                <a:solidFill>
                  <a:schemeClr val="dk2"/>
                </a:solidFill>
              </a:rPr>
              <a:t>Se enfoca en la optimización del sitio web para garantizar una experiencia positiva para los usuarios. Esto puede incluir la realización de investigaciones de usuarios, pruebas de usabilidad y la adaptación del diseño del sitio a las necesidades de los usuarios.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Desarrollo Front-End: Implica la codificación del diseño del sitio web utilizando lenguajes como HTML, CSS y JavaScript para crear lo que los usuarios ven y con lo que interactúan en el navegador.</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Desarrollo Back-End:</a:t>
            </a:r>
            <a:r>
              <a:rPr lang="es-419" sz="1000">
                <a:solidFill>
                  <a:schemeClr val="dk2"/>
                </a:solidFill>
              </a:rPr>
              <a:t> Se refiere al servidor, las aplicaciones y las bases de datos que funcionan en el backend para alimentar el sitio web. Incluye la programación de la funcionalidad del sitio, como formularios de contacto, galerías de imágenes o sistemas de comercio electrónico.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de Motores de Búsqueda (SEO):</a:t>
            </a:r>
            <a:r>
              <a:rPr lang="es-419" sz="1000">
                <a:solidFill>
                  <a:schemeClr val="dk2"/>
                </a:solidFill>
              </a:rPr>
              <a:t> Ajustar el contenido y la estructura del sitio web para mejorar su visibilidad en los resultados de los motores de búsqueda, con el fin de atraer a más visitantes.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El diseño web es un proceso integral que requiere una planificación cuidadosa y una ejecución experta para asegurar que el sitio web no solo se vea bien, sino que también cumpla con los objetivos de negocio, satisfaga las necesidades de los usuarios y se destaque en el competitivo mundo digital.</a:t>
            </a:r>
            <a:endParaRPr sz="1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544875" y="224900"/>
            <a:ext cx="82695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a:t>
            </a:r>
            <a:r>
              <a:rPr b="1" lang="es-419">
                <a:solidFill>
                  <a:schemeClr val="dk2"/>
                </a:solidFill>
              </a:rPr>
              <a:t>Qué</a:t>
            </a:r>
            <a:r>
              <a:rPr b="1" lang="es-419">
                <a:solidFill>
                  <a:schemeClr val="dk2"/>
                </a:solidFill>
              </a:rPr>
              <a:t> beneficios aporta el diseño web?</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Contratar un servicio de diseño web profesional puede ofrecer una amplia gama de beneficios tanto para empresas como para individuos. Aquí se detallan algunos de los más significativos:</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Presencia profesional en línea:</a:t>
            </a:r>
            <a:r>
              <a:rPr lang="es-419" sz="1000">
                <a:solidFill>
                  <a:schemeClr val="dk2"/>
                </a:solidFill>
              </a:rPr>
              <a:t> Un diseño web de calidad proyecta una imagen profesional de tu negocio o marca personal. Esto puede aumentar la credibilidad y la confianza entre los clientes potenciales.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Ventaja competitiva:</a:t>
            </a:r>
            <a:r>
              <a:rPr lang="es-419" sz="1000">
                <a:solidFill>
                  <a:schemeClr val="dk2"/>
                </a:solidFill>
              </a:rPr>
              <a:t> Un sitio web bien diseñado puede diferenciarte de la competencia, destacando tus productos o servicios de una manera única y atractiva.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en la conversión:</a:t>
            </a:r>
            <a:r>
              <a:rPr lang="es-419" sz="1000">
                <a:solidFill>
                  <a:schemeClr val="dk2"/>
                </a:solidFill>
              </a:rPr>
              <a:t> Un diseño web estratégico puede guiar a los visitantes a tomar acciones específicas, como comprar un producto, suscribirse a un boletín informativo o contactar para más información, lo que resulta en una mayor tasa de conversión.</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Eficiencia y escalabilidad:</a:t>
            </a:r>
            <a:r>
              <a:rPr lang="es-419" sz="1000">
                <a:solidFill>
                  <a:schemeClr val="dk2"/>
                </a:solidFill>
              </a:rPr>
              <a:t> Los profesionales del diseño web pueden construir un sitio que no solo cumpla con tus necesidades actuales sino que también sea fácil de actualizar y escalar en el futuro a medida que tu negocio crezca.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Integración de tecnología avanzada:</a:t>
            </a:r>
            <a:r>
              <a:rPr lang="es-419" sz="1000">
                <a:solidFill>
                  <a:schemeClr val="dk2"/>
                </a:solidFill>
              </a:rPr>
              <a:t> Los diseñadores web están al tanto de las últimas tendencias y tecnologías, lo que significa que tu sitio puede incluir características modernas y avanzadas que mejoren la funcionalidad y el atractivo general.</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 comunicación de la marca:</a:t>
            </a:r>
            <a:r>
              <a:rPr lang="es-419" sz="1000">
                <a:solidFill>
                  <a:schemeClr val="dk2"/>
                </a:solidFill>
              </a:rPr>
              <a:t> Un diseño web profesional puede ayudar a comunicar de manera efectiva la misión, los valores y la propuesta de valor de tu marca, lo cual es fundamental para construir una conexión emocional con tu audiencia.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Mejora de la experiencia del usuario:</a:t>
            </a:r>
            <a:r>
              <a:rPr lang="es-419" sz="1000">
                <a:solidFill>
                  <a:schemeClr val="dk2"/>
                </a:solidFill>
              </a:rPr>
              <a:t> Un diseño web enfocado en la usabilidad y accesibilidad puede mejorar significativamente la experiencia del usuario, lo que se traduce en una mayor satisfacción y retención de visitantes.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Optimización para motores de búsqueda (SEO):</a:t>
            </a:r>
            <a:r>
              <a:rPr lang="es-419" sz="1000">
                <a:solidFill>
                  <a:schemeClr val="dk2"/>
                </a:solidFill>
              </a:rPr>
              <a:t> Un diseño web bien estructurado puede mejorar la visibilidad en los motores de búsqueda, lo que aumenta el tráfico orgánico hacia tu sitio y potencialmente genera más conversiones.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Adaptabilidad a dispositivos móviles:</a:t>
            </a:r>
            <a:r>
              <a:rPr lang="es-419" sz="1000">
                <a:solidFill>
                  <a:schemeClr val="dk2"/>
                </a:solidFill>
              </a:rPr>
              <a:t> Con el creciente uso de smartphones para navegar en internet, un diseño web responsivo asegura que tu sitio se vea y funcione bien en todos los dispositivos, lo cual es crucial para alcanzar a una audiencia más amplia.</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rPr lang="es-419" sz="1000">
                <a:solidFill>
                  <a:schemeClr val="dk2"/>
                </a:solidFill>
              </a:rPr>
              <a:t>En resumen, invertir en un servicio de diseño web de calidad no solo mejora la presencia online de una empresa o individuo, sino que también contribuye a objetivos comerciales más amplios como el aumento de la visibilidad, la mejora en la captación y retención de clientes, y el crecimiento del negocio en general.</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421350" y="341450"/>
            <a:ext cx="8102700" cy="45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¿Cuales son los pasos para cumplimentar este servicio?</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s-419" sz="1000">
                <a:solidFill>
                  <a:schemeClr val="dk2"/>
                </a:solidFill>
              </a:rPr>
              <a:t>Requisitos: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Brief web</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Template de proyecto web.</a:t>
            </a:r>
            <a:endParaRPr sz="1000">
              <a:solidFill>
                <a:schemeClr val="dk2"/>
              </a:solidFill>
            </a:endParaRPr>
          </a:p>
          <a:p>
            <a:pPr indent="-292100" lvl="0" marL="457200" rtl="0" algn="l">
              <a:spcBef>
                <a:spcPts val="0"/>
              </a:spcBef>
              <a:spcAft>
                <a:spcPts val="0"/>
              </a:spcAft>
              <a:buClr>
                <a:schemeClr val="dk2"/>
              </a:buClr>
              <a:buSzPts val="1000"/>
              <a:buChar char="-"/>
            </a:pPr>
            <a:r>
              <a:rPr lang="es-419" sz="1000">
                <a:solidFill>
                  <a:schemeClr val="dk2"/>
                </a:solidFill>
              </a:rPr>
              <a:t>Datos de acceso al hosting / alojamiento web.</a:t>
            </a:r>
            <a:endParaRPr sz="1000">
              <a:solidFill>
                <a:schemeClr val="dk2"/>
              </a:solidFill>
            </a:endParaRPr>
          </a:p>
        </p:txBody>
      </p:sp>
      <p:grpSp>
        <p:nvGrpSpPr>
          <p:cNvPr id="65" name="Google Shape;65;p15"/>
          <p:cNvGrpSpPr/>
          <p:nvPr/>
        </p:nvGrpSpPr>
        <p:grpSpPr>
          <a:xfrm>
            <a:off x="366938" y="1340613"/>
            <a:ext cx="3507600" cy="1812038"/>
            <a:chOff x="359613" y="1654113"/>
            <a:chExt cx="3507600" cy="1812038"/>
          </a:xfrm>
        </p:grpSpPr>
        <p:cxnSp>
          <p:nvCxnSpPr>
            <p:cNvPr id="66" name="Google Shape;66;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67" name="Google Shape;67;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Reunión con el equipo de diseño gráfico</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Discusión de la estructura del proyecto web.</a:t>
              </a:r>
              <a:endParaRPr sz="800">
                <a:latin typeface="Roboto"/>
                <a:ea typeface="Roboto"/>
                <a:cs typeface="Roboto"/>
                <a:sym typeface="Roboto"/>
              </a:endParaRPr>
            </a:p>
          </p:txBody>
        </p:sp>
      </p:grpSp>
      <p:cxnSp>
        <p:nvCxnSpPr>
          <p:cNvPr id="68" name="Google Shape;68;p15"/>
          <p:cNvCxnSpPr/>
          <p:nvPr/>
        </p:nvCxnSpPr>
        <p:spPr>
          <a:xfrm rot="10800000">
            <a:off x="2649263" y="2794925"/>
            <a:ext cx="930000" cy="0"/>
          </a:xfrm>
          <a:prstGeom prst="straightConnector1">
            <a:avLst/>
          </a:prstGeom>
          <a:noFill/>
          <a:ln cap="flat" cmpd="sng" w="9525">
            <a:solidFill>
              <a:srgbClr val="1F887E"/>
            </a:solidFill>
            <a:prstDash val="solid"/>
            <a:round/>
            <a:headEnd len="sm" w="sm" type="none"/>
            <a:tailEnd len="med" w="med" type="oval"/>
          </a:ln>
        </p:spPr>
      </p:cxnSp>
      <p:grpSp>
        <p:nvGrpSpPr>
          <p:cNvPr id="69" name="Google Shape;69;p15"/>
          <p:cNvGrpSpPr/>
          <p:nvPr/>
        </p:nvGrpSpPr>
        <p:grpSpPr>
          <a:xfrm>
            <a:off x="4665063" y="3078200"/>
            <a:ext cx="4162750" cy="924600"/>
            <a:chOff x="4657738" y="3391700"/>
            <a:chExt cx="4162750" cy="924600"/>
          </a:xfrm>
        </p:grpSpPr>
        <p:cxnSp>
          <p:nvCxnSpPr>
            <p:cNvPr id="70" name="Google Shape;70;p15"/>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71" name="Google Shape;71;p15"/>
            <p:cNvSpPr txBox="1"/>
            <p:nvPr/>
          </p:nvSpPr>
          <p:spPr>
            <a:xfrm>
              <a:off x="6696488" y="339170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Desarrollo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Puesta en marcha del diseño y desarrollo del proyecto web en cuestión.</a:t>
              </a:r>
              <a:endParaRPr b="1" sz="800">
                <a:latin typeface="Roboto"/>
                <a:ea typeface="Roboto"/>
                <a:cs typeface="Roboto"/>
                <a:sym typeface="Roboto"/>
              </a:endParaRPr>
            </a:p>
          </p:txBody>
        </p:sp>
      </p:grpSp>
      <p:grpSp>
        <p:nvGrpSpPr>
          <p:cNvPr id="72" name="Google Shape;72;p15"/>
          <p:cNvGrpSpPr/>
          <p:nvPr/>
        </p:nvGrpSpPr>
        <p:grpSpPr>
          <a:xfrm>
            <a:off x="5217163" y="929475"/>
            <a:ext cx="3610650" cy="924600"/>
            <a:chOff x="5209838" y="1242975"/>
            <a:chExt cx="3610650" cy="924600"/>
          </a:xfrm>
        </p:grpSpPr>
        <p:sp>
          <p:nvSpPr>
            <p:cNvPr id="73" name="Google Shape;73;p15"/>
            <p:cNvSpPr txBox="1"/>
            <p:nvPr/>
          </p:nvSpPr>
          <p:spPr>
            <a:xfrm>
              <a:off x="6696488" y="1242975"/>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Entrega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Entrega final del proyecto web.</a:t>
              </a:r>
              <a:endParaRPr b="1" sz="800">
                <a:latin typeface="Roboto"/>
                <a:ea typeface="Roboto"/>
                <a:cs typeface="Roboto"/>
                <a:sym typeface="Roboto"/>
              </a:endParaRPr>
            </a:p>
          </p:txBody>
        </p:sp>
        <p:cxnSp>
          <p:nvCxnSpPr>
            <p:cNvPr id="74" name="Google Shape;74;p15"/>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75" name="Google Shape;75;p15"/>
          <p:cNvGrpSpPr/>
          <p:nvPr/>
        </p:nvGrpSpPr>
        <p:grpSpPr>
          <a:xfrm>
            <a:off x="5617613" y="1999850"/>
            <a:ext cx="3210200" cy="924600"/>
            <a:chOff x="5610288" y="2313350"/>
            <a:chExt cx="3210200" cy="924600"/>
          </a:xfrm>
        </p:grpSpPr>
        <p:cxnSp>
          <p:nvCxnSpPr>
            <p:cNvPr id="76" name="Google Shape;76;p15"/>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77" name="Google Shape;77;p15"/>
            <p:cNvSpPr txBox="1"/>
            <p:nvPr/>
          </p:nvSpPr>
          <p:spPr>
            <a:xfrm>
              <a:off x="6696488" y="2313350"/>
              <a:ext cx="2124000" cy="92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419" sz="1200">
                  <a:latin typeface="Roboto"/>
                  <a:ea typeface="Roboto"/>
                  <a:cs typeface="Roboto"/>
                  <a:sym typeface="Roboto"/>
                </a:rPr>
                <a:t>Revisión del proyecto web</a:t>
              </a:r>
              <a:endParaRPr b="1" sz="1200">
                <a:latin typeface="Roboto"/>
                <a:ea typeface="Roboto"/>
                <a:cs typeface="Roboto"/>
                <a:sym typeface="Roboto"/>
              </a:endParaRPr>
            </a:p>
            <a:p>
              <a:pPr indent="0" lvl="0" marL="0" rtl="0" algn="l">
                <a:spcBef>
                  <a:spcPts val="0"/>
                </a:spcBef>
                <a:spcAft>
                  <a:spcPts val="0"/>
                </a:spcAft>
                <a:buNone/>
              </a:pPr>
              <a:r>
                <a:t/>
              </a:r>
              <a:endParaRPr b="1" sz="800">
                <a:latin typeface="Roboto"/>
                <a:ea typeface="Roboto"/>
                <a:cs typeface="Roboto"/>
                <a:sym typeface="Roboto"/>
              </a:endParaRPr>
            </a:p>
            <a:p>
              <a:pPr indent="0" lvl="0" marL="0" rtl="0" algn="l">
                <a:spcBef>
                  <a:spcPts val="0"/>
                </a:spcBef>
                <a:spcAft>
                  <a:spcPts val="1600"/>
                </a:spcAft>
                <a:buNone/>
              </a:pPr>
              <a:r>
                <a:rPr lang="es-419" sz="800">
                  <a:latin typeface="Roboto"/>
                  <a:ea typeface="Roboto"/>
                  <a:cs typeface="Roboto"/>
                  <a:sym typeface="Roboto"/>
                </a:rPr>
                <a:t>Primer presentación del proyecto para con el cliente y posteriores revisiones y ajustes.</a:t>
              </a:r>
              <a:endParaRPr b="1" sz="800">
                <a:latin typeface="Roboto"/>
                <a:ea typeface="Roboto"/>
                <a:cs typeface="Roboto"/>
                <a:sym typeface="Roboto"/>
              </a:endParaRPr>
            </a:p>
          </p:txBody>
        </p:sp>
      </p:grpSp>
      <p:grpSp>
        <p:nvGrpSpPr>
          <p:cNvPr id="78" name="Google Shape;78;p15"/>
          <p:cNvGrpSpPr/>
          <p:nvPr/>
        </p:nvGrpSpPr>
        <p:grpSpPr>
          <a:xfrm>
            <a:off x="2608561" y="341451"/>
            <a:ext cx="3922200" cy="3915924"/>
            <a:chOff x="2610905" y="610653"/>
            <a:chExt cx="3922200" cy="3922200"/>
          </a:xfrm>
        </p:grpSpPr>
        <p:sp>
          <p:nvSpPr>
            <p:cNvPr id="79" name="Google Shape;79;p15"/>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06</a:t>
              </a:r>
              <a:endParaRPr b="1" sz="1600">
                <a:solidFill>
                  <a:srgbClr val="FFFFFF"/>
                </a:solidFill>
                <a:latin typeface="Roboto"/>
                <a:ea typeface="Roboto"/>
                <a:cs typeface="Roboto"/>
                <a:sym typeface="Roboto"/>
              </a:endParaRPr>
            </a:p>
          </p:txBody>
        </p:sp>
        <p:sp>
          <p:nvSpPr>
            <p:cNvPr id="95" name="Google Shape;95;p15"/>
            <p:cNvSpPr txBox="1"/>
            <p:nvPr/>
          </p:nvSpPr>
          <p:spPr>
            <a:xfrm>
              <a:off x="3602457" y="167684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sp>
          <p:nvSpPr>
            <p:cNvPr id="96" name="Google Shape;96;p15"/>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7" name="Google Shape;97;p15"/>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a:p>
              <a:pPr indent="0" lvl="0" marL="0" rtl="0" algn="ctr">
                <a:spcBef>
                  <a:spcPts val="0"/>
                </a:spcBef>
                <a:spcAft>
                  <a:spcPts val="0"/>
                </a:spcAft>
                <a:buNone/>
              </a:pPr>
              <a:r>
                <a:t/>
              </a:r>
              <a:endParaRPr b="1" sz="1600">
                <a:solidFill>
                  <a:srgbClr val="FFFFFF"/>
                </a:solidFill>
                <a:latin typeface="Roboto"/>
                <a:ea typeface="Roboto"/>
                <a:cs typeface="Roboto"/>
                <a:sym typeface="Roboto"/>
              </a:endParaRPr>
            </a:p>
          </p:txBody>
        </p:sp>
        <p:sp>
          <p:nvSpPr>
            <p:cNvPr id="98" name="Google Shape;98;p15"/>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sp>
        <p:nvSpPr>
          <p:cNvPr id="99" name="Google Shape;99;p15"/>
          <p:cNvSpPr txBox="1"/>
          <p:nvPr/>
        </p:nvSpPr>
        <p:spPr>
          <a:xfrm>
            <a:off x="366938" y="1009325"/>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Brief web</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Diseño de brief web y recopilación de información para la web.</a:t>
            </a:r>
            <a:endParaRPr sz="800">
              <a:latin typeface="Roboto"/>
              <a:ea typeface="Roboto"/>
              <a:cs typeface="Roboto"/>
              <a:sym typeface="Roboto"/>
            </a:endParaRPr>
          </a:p>
        </p:txBody>
      </p:sp>
      <p:grpSp>
        <p:nvGrpSpPr>
          <p:cNvPr id="100" name="Google Shape;100;p15"/>
          <p:cNvGrpSpPr/>
          <p:nvPr/>
        </p:nvGrpSpPr>
        <p:grpSpPr>
          <a:xfrm>
            <a:off x="1556738" y="2445338"/>
            <a:ext cx="3507600" cy="1812038"/>
            <a:chOff x="359613" y="1654113"/>
            <a:chExt cx="3507600" cy="1812038"/>
          </a:xfrm>
        </p:grpSpPr>
        <p:cxnSp>
          <p:nvCxnSpPr>
            <p:cNvPr id="101" name="Google Shape;101;p15"/>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102" name="Google Shape;102;p15"/>
            <p:cNvSpPr txBox="1"/>
            <p:nvPr/>
          </p:nvSpPr>
          <p:spPr>
            <a:xfrm>
              <a:off x="359613" y="2541550"/>
              <a:ext cx="2124000" cy="924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s-419" sz="1200">
                  <a:latin typeface="Roboto"/>
                  <a:ea typeface="Roboto"/>
                  <a:cs typeface="Roboto"/>
                  <a:sym typeface="Roboto"/>
                </a:rPr>
                <a:t>Primeras propuestas</a:t>
              </a:r>
              <a:endParaRPr b="1" sz="1200">
                <a:latin typeface="Roboto"/>
                <a:ea typeface="Roboto"/>
                <a:cs typeface="Roboto"/>
                <a:sym typeface="Roboto"/>
              </a:endParaRPr>
            </a:p>
            <a:p>
              <a:pPr indent="0" lvl="0" marL="0" rtl="0" algn="r">
                <a:spcBef>
                  <a:spcPts val="0"/>
                </a:spcBef>
                <a:spcAft>
                  <a:spcPts val="1600"/>
                </a:spcAft>
                <a:buNone/>
              </a:pPr>
              <a:r>
                <a:rPr lang="es-419" sz="800">
                  <a:latin typeface="Roboto"/>
                  <a:ea typeface="Roboto"/>
                  <a:cs typeface="Roboto"/>
                  <a:sym typeface="Roboto"/>
                </a:rPr>
                <a:t>Presentación de 3 propuestas para la página de inicio, con sus respectivas revisiones y ajustes de ser necesario.</a:t>
              </a:r>
              <a:endParaRPr sz="800">
                <a:latin typeface="Roboto"/>
                <a:ea typeface="Roboto"/>
                <a:cs typeface="Roboto"/>
                <a:sym typeface="Roboto"/>
              </a:endParaRPr>
            </a:p>
          </p:txBody>
        </p:sp>
      </p:grpSp>
      <p:sp>
        <p:nvSpPr>
          <p:cNvPr id="103" name="Google Shape;103;p15"/>
          <p:cNvSpPr txBox="1"/>
          <p:nvPr/>
        </p:nvSpPr>
        <p:spPr>
          <a:xfrm>
            <a:off x="3150388" y="2240285"/>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552150" y="195875"/>
            <a:ext cx="7935600" cy="44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solidFill>
                  <a:schemeClr val="dk2"/>
                </a:solidFill>
              </a:rPr>
              <a:t>¿Qué se obtiene con el diseño web?</a:t>
            </a:r>
            <a:endParaRPr b="1">
              <a:solidFill>
                <a:schemeClr val="dk2"/>
              </a:solidFill>
            </a:endParaRPr>
          </a:p>
          <a:p>
            <a:pPr indent="0" lvl="0" marL="0" rtl="0" algn="l">
              <a:spcBef>
                <a:spcPts val="0"/>
              </a:spcBef>
              <a:spcAft>
                <a:spcPts val="0"/>
              </a:spcAft>
              <a:buNone/>
            </a:pPr>
            <a:r>
              <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Mayor credibilidad y confianza:</a:t>
            </a:r>
            <a:r>
              <a:rPr lang="es-419" sz="1000">
                <a:solidFill>
                  <a:schemeClr val="dk2"/>
                </a:solidFill>
              </a:rPr>
              <a:t> un sitio web funciona como carta de presentación de un negocio en el mundo digital. Proporciona una plataforma para demostrar autoridad en el sector, mostrar productos o servicios y compartir testimonios de clientes, lo que conlleva a incrementar la confianza y credibilidad entre tu audiencia.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Visibilidad mejorada:</a:t>
            </a:r>
            <a:r>
              <a:rPr lang="es-419" sz="1000">
                <a:solidFill>
                  <a:schemeClr val="dk2"/>
                </a:solidFill>
              </a:rPr>
              <a:t> En un mundo donde la mayoría de las personas recurren a internet para buscar productos, servicios e información, no tener un sitio web significa perder una enorme oportunidad de ser encontrado por potenciales clientes. Un sitio web bien optimizado para motores de búsqueda (SEO) puede aumentar significativamente tu visibilidad en línea.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Acceso 24/7:</a:t>
            </a:r>
            <a:r>
              <a:rPr lang="es-419" sz="1000">
                <a:solidFill>
                  <a:schemeClr val="dk2"/>
                </a:solidFill>
              </a:rPr>
              <a:t> A diferencia de un negocio físico, un sitio web está disponible 24/7, lo que permite a los clientes acceder a tu negocio en cualquier momento. Esto significa que pueden obtener información, realizar compras o contactarte fuera del horario comercial tradicional.</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Competir en el mercado:</a:t>
            </a:r>
            <a:r>
              <a:rPr lang="es-419" sz="1000">
                <a:solidFill>
                  <a:schemeClr val="dk2"/>
                </a:solidFill>
              </a:rPr>
              <a:t> Un sitio web profesional puede ayudarte a competir con otras empresas, incluidas las grandes marcas. Te brinda una plataforma para destacar lo que hace única a tu oferta, permitiéndote competir en igualdad de condiciones con competidores de mayor tamaño.</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Control de marca:</a:t>
            </a:r>
            <a:r>
              <a:rPr lang="es-419" sz="1000">
                <a:solidFill>
                  <a:schemeClr val="dk2"/>
                </a:solidFill>
              </a:rPr>
              <a:t> Un sitio web te da control total sobre la imagen y la presentación de tu marca. A diferencia de las plataformas de redes sociales, donde el diseño y la interfaz están predeterminados, un sitio web te permite diseñar y personalizar cada aspecto para alinear completamente con la identidad de tu marca.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Marketing efectivo:</a:t>
            </a:r>
            <a:r>
              <a:rPr lang="es-419" sz="1000">
                <a:solidFill>
                  <a:schemeClr val="dk2"/>
                </a:solidFill>
              </a:rPr>
              <a:t> Un sitio web es una herramienta poderosa para tus esfuerzos de marketing. Puedes utilizarlo para implementar estrategias de contenido, optimización para motores de búsqueda (SEO), publicidad pay-per-click (PPC), y más. También permite la recopilación de datos sobre visitantes y clientes para futuras campañas de marketing.</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Alcance global:</a:t>
            </a:r>
            <a:r>
              <a:rPr lang="es-419" sz="1000">
                <a:solidFill>
                  <a:schemeClr val="dk2"/>
                </a:solidFill>
              </a:rPr>
              <a:t> Con un sitio web, tu negocio no está limitado a una ubicación geográfica; puedes alcanzar a clientes potenciales a nivel global. Esto es especialmente valioso para negocios que ofrecen productos o servicios que pueden ser entregados o realizados a distancia.</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Comunicación con los clientes:</a:t>
            </a:r>
            <a:r>
              <a:rPr lang="es-419" sz="1000">
                <a:solidFill>
                  <a:schemeClr val="dk2"/>
                </a:solidFill>
              </a:rPr>
              <a:t> Un sitio web facilita la comunicación directa con tus clientes a través de formularios de contacto, blogs, foros y secciones de comentarios. Esta comunicación bidireccional es esencial para construir relaciones con tus clientes y para obtener feedback valioso sobre tus productos o servicios.</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Eficiencia costo-beneficio:</a:t>
            </a:r>
            <a:r>
              <a:rPr lang="es-419" sz="1000">
                <a:solidFill>
                  <a:schemeClr val="dk2"/>
                </a:solidFill>
              </a:rPr>
              <a:t> Comparado con los costos de publicidad tradicional o el alquiler de un espacio físico, un sitio web es una inversión relativamente baja que ofrece un retorno potencialmente alto. Un sitio web bien diseñado y mantenido puede ser una de las herramientas más costo-efectivas en tu arsenal de marketing.</a:t>
            </a:r>
            <a:endParaRPr sz="1000">
              <a:solidFill>
                <a:schemeClr val="dk2"/>
              </a:solidFill>
            </a:endParaRPr>
          </a:p>
          <a:p>
            <a:pPr indent="-292100" lvl="0" marL="457200" rtl="0" algn="l">
              <a:spcBef>
                <a:spcPts val="0"/>
              </a:spcBef>
              <a:spcAft>
                <a:spcPts val="0"/>
              </a:spcAft>
              <a:buClr>
                <a:schemeClr val="dk2"/>
              </a:buClr>
              <a:buSzPts val="1000"/>
              <a:buChar char="●"/>
            </a:pPr>
            <a:r>
              <a:rPr lang="es-419" sz="1000" u="sng">
                <a:solidFill>
                  <a:schemeClr val="dk2"/>
                </a:solidFill>
              </a:rPr>
              <a:t>Análisis y mejora contínua:</a:t>
            </a:r>
            <a:r>
              <a:rPr lang="es-419" sz="1000">
                <a:solidFill>
                  <a:schemeClr val="dk2"/>
                </a:solidFill>
              </a:rPr>
              <a:t> Las herramientas de análisis web te permiten rastrear el rendimiento de tu sitio, entender cómo interactúan los visitantes con él y obtener insights sobre lo que funciona y lo que no. Esta información es invaluable para la mejora continua de tu sitio y estrategias de negocio.</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