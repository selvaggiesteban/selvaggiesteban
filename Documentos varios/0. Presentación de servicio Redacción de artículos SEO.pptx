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Roboto"/>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oboto-bold.fntdata"/><Relationship Id="rId10" Type="http://schemas.openxmlformats.org/officeDocument/2006/relationships/font" Target="fonts/Roboto-regular.fntdata"/><Relationship Id="rId13" Type="http://schemas.openxmlformats.org/officeDocument/2006/relationships/font" Target="fonts/Roboto-boldItalic.fntdata"/><Relationship Id="rId12"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f3b681049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f3b681049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f3b681049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f3b681049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f3b681049f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f3b681049f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544875" y="152350"/>
            <a:ext cx="8291100" cy="43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a:solidFill>
                  <a:schemeClr val="dk2"/>
                </a:solidFill>
              </a:rPr>
              <a:t>¿De qué se trata el servicio de redacción de artículos SEO?</a:t>
            </a:r>
            <a:endParaRPr b="1">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s-419" sz="1000">
                <a:solidFill>
                  <a:schemeClr val="dk2"/>
                </a:solidFill>
              </a:rPr>
              <a:t>El servicio de redacción de artículos SEO se refiere a la creación de contenido escrito específicamente diseñado para mejorar el posicionamiento de un sitio web en los resultados de búsqueda de los motores como Google. Este tipo de servicio combina las técnicas de escritura tradicional con las estrategias de optimización para motores de búsqueda (SEO, por sus siglas en inglés: Search Engine Optimization) para producir artículos que no solo sean interesantes y valiosos para los lectores, sino que también cumplan con ciertos criterios que los hacen más "amigables" para los motores de búsqueda.</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s-419" sz="1000">
                <a:solidFill>
                  <a:schemeClr val="dk2"/>
                </a:solidFill>
              </a:rPr>
              <a:t>Las características principales de un servicio de redacción de artículos SEO incluyen:</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Investigación de palabras clave:</a:t>
            </a:r>
            <a:r>
              <a:rPr lang="es-419" sz="1000">
                <a:solidFill>
                  <a:schemeClr val="dk2"/>
                </a:solidFill>
              </a:rPr>
              <a:t> Identificar las palabras y frases clave relevantes para el tema del artículo y que son comúnmente utilizadas por el público objetivo en sus búsquedas. Esto asegura que el contenido sea descubierto por los usuarios interesados en ese tema específico.</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Optimización de contenido:</a:t>
            </a:r>
            <a:r>
              <a:rPr lang="es-419" sz="1000">
                <a:solidFill>
                  <a:schemeClr val="dk2"/>
                </a:solidFill>
              </a:rPr>
              <a:t> Incorporar de manera natural las palabras clave seleccionadas en el título, encabezados, cuerpo del texto, meta-descripciones, y URLs del artículo. Esto ayuda a mejorar el ranking del artículo en los resultados de búsqueda para esas palabras clave específicas.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Creación de contenido de calidad:</a:t>
            </a:r>
            <a:r>
              <a:rPr lang="es-419" sz="1000">
                <a:solidFill>
                  <a:schemeClr val="dk2"/>
                </a:solidFill>
              </a:rPr>
              <a:t> Producir artículos que ofrezcan valor real a los lectores, proporcionando información útil, respuestas a sus preguntas, o soluciones a sus problemas. El contenido debe ser bien investigado, bien escrito, y original.</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Estructura amigable para SEO: </a:t>
            </a:r>
            <a:r>
              <a:rPr lang="es-419" sz="1000">
                <a:solidFill>
                  <a:schemeClr val="dk2"/>
                </a:solidFill>
              </a:rPr>
              <a:t>Organizar el contenido de manera que sea fácil de leer tanto para los usuarios como para los motores de búsqueda. Esto incluye el uso de encabezados y subencabezados, párrafos cortos, listas, y otros elementos de formato que mejoran la legibilidad.</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Optimización de imágenes:</a:t>
            </a:r>
            <a:r>
              <a:rPr lang="es-419" sz="1000">
                <a:solidFill>
                  <a:schemeClr val="dk2"/>
                </a:solidFill>
              </a:rPr>
              <a:t> Incluir imágenes relevantes que estén optimizadas con texto alternativo (alt text) que incluya las palabras clave, lo cual ayuda a mejorar la visibilidad en los resultados de búsqueda de imágenes.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Meta-etiquetas y descripciones:</a:t>
            </a:r>
            <a:r>
              <a:rPr lang="es-419" sz="1000">
                <a:solidFill>
                  <a:schemeClr val="dk2"/>
                </a:solidFill>
              </a:rPr>
              <a:t> Crear títulos y descripciones meta atractivos y optimizados con palabras clave que incentiven el clic en los resultados de búsqueda.</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Enlaces internos y externos:</a:t>
            </a:r>
            <a:r>
              <a:rPr lang="es-419" sz="1000">
                <a:solidFill>
                  <a:schemeClr val="dk2"/>
                </a:solidFill>
              </a:rPr>
              <a:t> Integrar enlaces a contenido relevante dentro del mismo sitio web (enlaces internos) y a fuentes externas de alta autoridad (enlaces externos) para mejorar la autoridad del sitio y ofrecer mayor valor a los lectores.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Compatibilidad con dispositivos móviles:</a:t>
            </a:r>
            <a:r>
              <a:rPr lang="es-419" sz="1000">
                <a:solidFill>
                  <a:schemeClr val="dk2"/>
                </a:solidFill>
              </a:rPr>
              <a:t> Asegurar que el contenido sea accesible y se visualice correctamente en dispositivos móviles, dado el creciente uso de smartphones y tablets para acceder a internet.</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Actualización y mantenimiento del contenido:</a:t>
            </a:r>
            <a:r>
              <a:rPr lang="es-419" sz="1000">
                <a:solidFill>
                  <a:schemeClr val="dk2"/>
                </a:solidFill>
              </a:rPr>
              <a:t> Revisar y actualizar el contenido periódicamente para mantenerlo relevante y exacto, lo cual es valorado por los motores de búsqueda.</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s-419" sz="1000">
                <a:solidFill>
                  <a:schemeClr val="dk2"/>
                </a:solidFill>
              </a:rPr>
              <a:t>El servicio de redacción de artículos SEO es esencial para las empresas y sitios web que buscan aumentar su visibilidad en línea, atraer tráfico orgánico, establecer autoridad en su nicho, y, en última instancia, alcanzar sus objetivos de conversión y venta. Al combinar habilidades de redacción con técnicas SEO, este servicio ayuda a crear contenido que satisface tanto a los usuarios como a los algoritmos de búsqueda.</a:t>
            </a:r>
            <a:endParaRPr sz="10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544875" y="224900"/>
            <a:ext cx="8269500" cy="45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a:solidFill>
                  <a:schemeClr val="dk2"/>
                </a:solidFill>
              </a:rPr>
              <a:t>¿</a:t>
            </a:r>
            <a:r>
              <a:rPr b="1" lang="es-419">
                <a:solidFill>
                  <a:schemeClr val="dk2"/>
                </a:solidFill>
              </a:rPr>
              <a:t>Qué</a:t>
            </a:r>
            <a:r>
              <a:rPr b="1" lang="es-419">
                <a:solidFill>
                  <a:schemeClr val="dk2"/>
                </a:solidFill>
              </a:rPr>
              <a:t> beneficios aportan </a:t>
            </a:r>
            <a:r>
              <a:rPr b="1" lang="es-419">
                <a:solidFill>
                  <a:schemeClr val="dk2"/>
                </a:solidFill>
              </a:rPr>
              <a:t>los</a:t>
            </a:r>
            <a:r>
              <a:rPr b="1" lang="es-419">
                <a:solidFill>
                  <a:schemeClr val="dk2"/>
                </a:solidFill>
              </a:rPr>
              <a:t> artículos SEO?</a:t>
            </a:r>
            <a:endParaRPr b="1">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rPr lang="es-419" sz="1000">
                <a:solidFill>
                  <a:schemeClr val="dk2"/>
                </a:solidFill>
              </a:rPr>
              <a:t>Contar con un redactor SEO especializado ofrece múltiples beneficios para cualquier negocio o individuo que busque mejorar su presencia en línea, atraer a su público objetivo y alcanzar sus objetivos de marketing digital. Los beneficios más destacados incluyen:</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Mejora del posicionamiento en buscadores:</a:t>
            </a:r>
            <a:r>
              <a:rPr lang="es-419" sz="1000">
                <a:solidFill>
                  <a:schemeClr val="dk2"/>
                </a:solidFill>
              </a:rPr>
              <a:t> Un redactor SEO utiliza técnicas de optimización para motores de búsqueda para aumentar la visibilidad del contenido en los resultados de búsqueda, lo que conduce a un mejor posicionamiento de tu sitio web para palabras clave relevantes.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Aumento del tráfico orgánico:</a:t>
            </a:r>
            <a:r>
              <a:rPr lang="es-419" sz="1000">
                <a:solidFill>
                  <a:schemeClr val="dk2"/>
                </a:solidFill>
              </a:rPr>
              <a:t> Al mejorar el posicionamiento en los motores de búsqueda, es más probable que tu sitio web atraiga visitantes interesados en tu contenido, productos o servicios, incrementando así el tráfico orgánico.</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Contenido de calidad y relevante:</a:t>
            </a:r>
            <a:r>
              <a:rPr lang="es-419" sz="1000">
                <a:solidFill>
                  <a:schemeClr val="dk2"/>
                </a:solidFill>
              </a:rPr>
              <a:t> Los redactores SEO no solo se enfocan en la optimización para buscadores, sino también en crear contenido valioso y de alta calidad que responda a las necesidades e intereses de tu audiencia, fomentando la participación y la fidelidad de los lectores.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Mayor tasa de conversión:</a:t>
            </a:r>
            <a:r>
              <a:rPr lang="es-419" sz="1000">
                <a:solidFill>
                  <a:schemeClr val="dk2"/>
                </a:solidFill>
              </a:rPr>
              <a:t> El contenido optimizado para SEO puede guiar a los visitantes a través del embudo de conversión más eficazmente, desde la concienciación hasta la decisión de compra, aumentando así las conversiones, ya sean ventas, suscripciones o cualquier otra acción deseada.</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Comprensión del público objetivo:</a:t>
            </a:r>
            <a:r>
              <a:rPr lang="es-419" sz="1000">
                <a:solidFill>
                  <a:schemeClr val="dk2"/>
                </a:solidFill>
              </a:rPr>
              <a:t> Un redactor SEO realiza investigaciones de palabras clave y análisis de la competencia, lo que ayuda a entender mejor a tu público objetivo, incluidas sus preguntas, problemas y el tipo de información que buscan.</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Construcción de autoridad y credibilidad:</a:t>
            </a:r>
            <a:r>
              <a:rPr lang="es-419" sz="1000">
                <a:solidFill>
                  <a:schemeClr val="dk2"/>
                </a:solidFill>
              </a:rPr>
              <a:t> Publicar contenido útil, informativo y bien investigado establece a tu negocio como una autoridad en tu nicho, mejorando la confianza y credibilidad entre tu audiencia.</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Mejora de la experiencia del usuario:</a:t>
            </a:r>
            <a:r>
              <a:rPr lang="es-419" sz="1000">
                <a:solidFill>
                  <a:schemeClr val="dk2"/>
                </a:solidFill>
              </a:rPr>
              <a:t> Un redactor SEO sabe cómo estructurar el contenido de manera que sea fácil de leer y navegar, lo que mejora la experiencia del usuario en tu sitio web y puede disminuir la tasa de rebote.</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Adaptabilidad a los cambios de algoritmos:</a:t>
            </a:r>
            <a:r>
              <a:rPr lang="es-419" sz="1000">
                <a:solidFill>
                  <a:schemeClr val="dk2"/>
                </a:solidFill>
              </a:rPr>
              <a:t> Los redactores SEO están al tanto de las actualizaciones y cambios en los algoritmos de los motores de búsqueda, adaptando el contenido para asegurar que continúe siendo efectivo a lo largo del tiempo.</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Optimización de recursos:</a:t>
            </a:r>
            <a:r>
              <a:rPr lang="es-419" sz="1000">
                <a:solidFill>
                  <a:schemeClr val="dk2"/>
                </a:solidFill>
              </a:rPr>
              <a:t> Al delegar la creación de contenido en un especialista, puedes concentrarte en otras áreas de tu negocio, asegurando que el tiempo y los recursos se utilicen de manera más eficiente.</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Análisis y mejora continua:</a:t>
            </a:r>
            <a:r>
              <a:rPr lang="es-419" sz="1000">
                <a:solidFill>
                  <a:schemeClr val="dk2"/>
                </a:solidFill>
              </a:rPr>
              <a:t> Un redactor SEO evalúa el rendimiento del contenido utilizando herramientas analíticas, lo que permite realizar ajustes y mejoras continuas para maximizar los resultados.</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None/>
            </a:pPr>
            <a:r>
              <a:rPr lang="es-419" sz="1000">
                <a:solidFill>
                  <a:schemeClr val="dk2"/>
                </a:solidFill>
              </a:rPr>
              <a:t>En resumen, contar con un redactor SEO es esencial para cualquier estrategia de marketing de contenido moderna. No solo ayuda a mejorar el posicionamiento y visibilidad de tu sitio web, sino que también contribuye a atraer y retener a una audiencia objetivo, aumentar las tasas de conversión y establecer una presencia en línea sólida y creíble.</a:t>
            </a:r>
            <a:endParaRPr sz="10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nvSpPr>
        <p:spPr>
          <a:xfrm>
            <a:off x="421350" y="341450"/>
            <a:ext cx="8102700" cy="45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a:solidFill>
                  <a:schemeClr val="dk2"/>
                </a:solidFill>
              </a:rPr>
              <a:t>¿Cuales son los pasos para cumplimentar este servicio?</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s-419" sz="1000">
                <a:solidFill>
                  <a:schemeClr val="dk2"/>
                </a:solidFill>
              </a:rPr>
              <a:t>Requisitos:</a:t>
            </a:r>
            <a:endParaRPr sz="1000">
              <a:solidFill>
                <a:schemeClr val="dk2"/>
              </a:solidFill>
            </a:endParaRPr>
          </a:p>
          <a:p>
            <a:pPr indent="-292100" lvl="0" marL="457200" rtl="0" algn="l">
              <a:spcBef>
                <a:spcPts val="0"/>
              </a:spcBef>
              <a:spcAft>
                <a:spcPts val="0"/>
              </a:spcAft>
              <a:buClr>
                <a:schemeClr val="dk2"/>
              </a:buClr>
              <a:buSzPts val="1000"/>
              <a:buChar char="-"/>
            </a:pPr>
            <a:r>
              <a:rPr lang="es-419" sz="1000">
                <a:solidFill>
                  <a:schemeClr val="dk2"/>
                </a:solidFill>
              </a:rPr>
              <a:t>Datos de acceso al hosting / alojamiento web.</a:t>
            </a:r>
            <a:endParaRPr sz="1000">
              <a:solidFill>
                <a:schemeClr val="dk2"/>
              </a:solidFill>
            </a:endParaRPr>
          </a:p>
          <a:p>
            <a:pPr indent="-292100" lvl="0" marL="457200" rtl="0" algn="l">
              <a:spcBef>
                <a:spcPts val="0"/>
              </a:spcBef>
              <a:spcAft>
                <a:spcPts val="0"/>
              </a:spcAft>
              <a:buClr>
                <a:schemeClr val="dk2"/>
              </a:buClr>
              <a:buSzPts val="1000"/>
              <a:buChar char="-"/>
            </a:pPr>
            <a:r>
              <a:rPr lang="es-419" sz="1000">
                <a:solidFill>
                  <a:schemeClr val="dk2"/>
                </a:solidFill>
              </a:rPr>
              <a:t>Datos de acceso a redes sociales (opcional)</a:t>
            </a:r>
            <a:endParaRPr sz="1000">
              <a:solidFill>
                <a:schemeClr val="dk2"/>
              </a:solidFill>
            </a:endParaRPr>
          </a:p>
        </p:txBody>
      </p:sp>
      <p:grpSp>
        <p:nvGrpSpPr>
          <p:cNvPr id="65" name="Google Shape;65;p15"/>
          <p:cNvGrpSpPr/>
          <p:nvPr/>
        </p:nvGrpSpPr>
        <p:grpSpPr>
          <a:xfrm>
            <a:off x="366938" y="1340613"/>
            <a:ext cx="3507600" cy="1812038"/>
            <a:chOff x="359613" y="1654113"/>
            <a:chExt cx="3507600" cy="1812038"/>
          </a:xfrm>
        </p:grpSpPr>
        <p:cxnSp>
          <p:nvCxnSpPr>
            <p:cNvPr id="66" name="Google Shape;66;p15"/>
            <p:cNvCxnSpPr/>
            <p:nvPr/>
          </p:nvCxnSpPr>
          <p:spPr>
            <a:xfrm rot="10800000">
              <a:off x="2642013" y="1654113"/>
              <a:ext cx="1225200" cy="0"/>
            </a:xfrm>
            <a:prstGeom prst="straightConnector1">
              <a:avLst/>
            </a:prstGeom>
            <a:noFill/>
            <a:ln cap="flat" cmpd="sng" w="9525">
              <a:solidFill>
                <a:srgbClr val="249C91"/>
              </a:solidFill>
              <a:prstDash val="solid"/>
              <a:round/>
              <a:headEnd len="sm" w="sm" type="none"/>
              <a:tailEnd len="med" w="med" type="oval"/>
            </a:ln>
          </p:spPr>
        </p:cxnSp>
        <p:sp>
          <p:nvSpPr>
            <p:cNvPr id="67" name="Google Shape;67;p15"/>
            <p:cNvSpPr txBox="1"/>
            <p:nvPr/>
          </p:nvSpPr>
          <p:spPr>
            <a:xfrm>
              <a:off x="359613" y="2541550"/>
              <a:ext cx="2124000" cy="92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s-419" sz="1200">
                  <a:latin typeface="Roboto"/>
                  <a:ea typeface="Roboto"/>
                  <a:cs typeface="Roboto"/>
                  <a:sym typeface="Roboto"/>
                </a:rPr>
                <a:t>Planificación del contenido</a:t>
              </a:r>
              <a:endParaRPr b="1" sz="1200">
                <a:latin typeface="Roboto"/>
                <a:ea typeface="Roboto"/>
                <a:cs typeface="Roboto"/>
                <a:sym typeface="Roboto"/>
              </a:endParaRPr>
            </a:p>
            <a:p>
              <a:pPr indent="0" lvl="0" marL="0" rtl="0" algn="r">
                <a:spcBef>
                  <a:spcPts val="0"/>
                </a:spcBef>
                <a:spcAft>
                  <a:spcPts val="1600"/>
                </a:spcAft>
                <a:buNone/>
              </a:pPr>
              <a:r>
                <a:rPr lang="es-419" sz="800">
                  <a:latin typeface="Roboto"/>
                  <a:ea typeface="Roboto"/>
                  <a:cs typeface="Roboto"/>
                  <a:sym typeface="Roboto"/>
                </a:rPr>
                <a:t>Planificación de la estructura de los artículos, incluyendo títulos, subtítulos, y secciones principales.</a:t>
              </a:r>
              <a:endParaRPr sz="800">
                <a:latin typeface="Roboto"/>
                <a:ea typeface="Roboto"/>
                <a:cs typeface="Roboto"/>
                <a:sym typeface="Roboto"/>
              </a:endParaRPr>
            </a:p>
          </p:txBody>
        </p:sp>
      </p:grpSp>
      <p:cxnSp>
        <p:nvCxnSpPr>
          <p:cNvPr id="68" name="Google Shape;68;p15"/>
          <p:cNvCxnSpPr/>
          <p:nvPr/>
        </p:nvCxnSpPr>
        <p:spPr>
          <a:xfrm rot="10800000">
            <a:off x="2649263" y="2794925"/>
            <a:ext cx="930000" cy="0"/>
          </a:xfrm>
          <a:prstGeom prst="straightConnector1">
            <a:avLst/>
          </a:prstGeom>
          <a:noFill/>
          <a:ln cap="flat" cmpd="sng" w="9525">
            <a:solidFill>
              <a:srgbClr val="1F887E"/>
            </a:solidFill>
            <a:prstDash val="solid"/>
            <a:round/>
            <a:headEnd len="sm" w="sm" type="none"/>
            <a:tailEnd len="med" w="med" type="oval"/>
          </a:ln>
        </p:spPr>
      </p:cxnSp>
      <p:grpSp>
        <p:nvGrpSpPr>
          <p:cNvPr id="69" name="Google Shape;69;p15"/>
          <p:cNvGrpSpPr/>
          <p:nvPr/>
        </p:nvGrpSpPr>
        <p:grpSpPr>
          <a:xfrm>
            <a:off x="4665063" y="3078200"/>
            <a:ext cx="4162750" cy="924600"/>
            <a:chOff x="4657738" y="3391700"/>
            <a:chExt cx="4162750" cy="924600"/>
          </a:xfrm>
        </p:grpSpPr>
        <p:cxnSp>
          <p:nvCxnSpPr>
            <p:cNvPr id="70" name="Google Shape;70;p15"/>
            <p:cNvCxnSpPr/>
            <p:nvPr/>
          </p:nvCxnSpPr>
          <p:spPr>
            <a:xfrm>
              <a:off x="4657738" y="3854000"/>
              <a:ext cx="1838700" cy="0"/>
            </a:xfrm>
            <a:prstGeom prst="straightConnector1">
              <a:avLst/>
            </a:prstGeom>
            <a:noFill/>
            <a:ln cap="flat" cmpd="sng" w="9525">
              <a:solidFill>
                <a:srgbClr val="1D7E75"/>
              </a:solidFill>
              <a:prstDash val="solid"/>
              <a:round/>
              <a:headEnd len="sm" w="sm" type="none"/>
              <a:tailEnd len="med" w="med" type="oval"/>
            </a:ln>
          </p:spPr>
        </p:cxnSp>
        <p:sp>
          <p:nvSpPr>
            <p:cNvPr id="71" name="Google Shape;71;p15"/>
            <p:cNvSpPr txBox="1"/>
            <p:nvPr/>
          </p:nvSpPr>
          <p:spPr>
            <a:xfrm>
              <a:off x="6696488" y="3391700"/>
              <a:ext cx="2124000" cy="92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419" sz="1200">
                  <a:latin typeface="Roboto"/>
                  <a:ea typeface="Roboto"/>
                  <a:cs typeface="Roboto"/>
                  <a:sym typeface="Roboto"/>
                </a:rPr>
                <a:t>Optimización SEO On-Page</a:t>
              </a:r>
              <a:endParaRPr b="1" sz="1200">
                <a:latin typeface="Roboto"/>
                <a:ea typeface="Roboto"/>
                <a:cs typeface="Roboto"/>
                <a:sym typeface="Roboto"/>
              </a:endParaRPr>
            </a:p>
            <a:p>
              <a:pPr indent="0" lvl="0" marL="0" rtl="0" algn="l">
                <a:spcBef>
                  <a:spcPts val="0"/>
                </a:spcBef>
                <a:spcAft>
                  <a:spcPts val="0"/>
                </a:spcAft>
                <a:buNone/>
              </a:pPr>
              <a:r>
                <a:t/>
              </a:r>
              <a:endParaRPr b="1" sz="800">
                <a:latin typeface="Roboto"/>
                <a:ea typeface="Roboto"/>
                <a:cs typeface="Roboto"/>
                <a:sym typeface="Roboto"/>
              </a:endParaRPr>
            </a:p>
            <a:p>
              <a:pPr indent="0" lvl="0" marL="0" rtl="0" algn="l">
                <a:spcBef>
                  <a:spcPts val="0"/>
                </a:spcBef>
                <a:spcAft>
                  <a:spcPts val="1600"/>
                </a:spcAft>
                <a:buNone/>
              </a:pPr>
              <a:r>
                <a:rPr lang="es-419" sz="800">
                  <a:latin typeface="Roboto"/>
                  <a:ea typeface="Roboto"/>
                  <a:cs typeface="Roboto"/>
                  <a:sym typeface="Roboto"/>
                </a:rPr>
                <a:t>Inclusión metaetiquetas descriptivas, imágenes relevantes y URLs optimizadas.</a:t>
              </a:r>
              <a:endParaRPr b="1" sz="800">
                <a:latin typeface="Roboto"/>
                <a:ea typeface="Roboto"/>
                <a:cs typeface="Roboto"/>
                <a:sym typeface="Roboto"/>
              </a:endParaRPr>
            </a:p>
          </p:txBody>
        </p:sp>
      </p:grpSp>
      <p:grpSp>
        <p:nvGrpSpPr>
          <p:cNvPr id="72" name="Google Shape;72;p15"/>
          <p:cNvGrpSpPr/>
          <p:nvPr/>
        </p:nvGrpSpPr>
        <p:grpSpPr>
          <a:xfrm>
            <a:off x="5217163" y="929475"/>
            <a:ext cx="3610650" cy="924600"/>
            <a:chOff x="5209838" y="1242975"/>
            <a:chExt cx="3610650" cy="924600"/>
          </a:xfrm>
        </p:grpSpPr>
        <p:sp>
          <p:nvSpPr>
            <p:cNvPr id="73" name="Google Shape;73;p15"/>
            <p:cNvSpPr txBox="1"/>
            <p:nvPr/>
          </p:nvSpPr>
          <p:spPr>
            <a:xfrm>
              <a:off x="6696488" y="1242975"/>
              <a:ext cx="2124000" cy="92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419" sz="1200">
                  <a:latin typeface="Roboto"/>
                  <a:ea typeface="Roboto"/>
                  <a:cs typeface="Roboto"/>
                  <a:sym typeface="Roboto"/>
                </a:rPr>
                <a:t>Promoción del artículo</a:t>
              </a:r>
              <a:endParaRPr b="1" sz="1200">
                <a:latin typeface="Roboto"/>
                <a:ea typeface="Roboto"/>
                <a:cs typeface="Roboto"/>
                <a:sym typeface="Roboto"/>
              </a:endParaRPr>
            </a:p>
            <a:p>
              <a:pPr indent="0" lvl="0" marL="0" rtl="0" algn="l">
                <a:spcBef>
                  <a:spcPts val="0"/>
                </a:spcBef>
                <a:spcAft>
                  <a:spcPts val="0"/>
                </a:spcAft>
                <a:buNone/>
              </a:pPr>
              <a:r>
                <a:t/>
              </a:r>
              <a:endParaRPr b="1" sz="800">
                <a:latin typeface="Roboto"/>
                <a:ea typeface="Roboto"/>
                <a:cs typeface="Roboto"/>
                <a:sym typeface="Roboto"/>
              </a:endParaRPr>
            </a:p>
            <a:p>
              <a:pPr indent="0" lvl="0" marL="0" rtl="0" algn="l">
                <a:spcBef>
                  <a:spcPts val="0"/>
                </a:spcBef>
                <a:spcAft>
                  <a:spcPts val="1600"/>
                </a:spcAft>
                <a:buNone/>
              </a:pPr>
              <a:r>
                <a:rPr lang="es-419" sz="800">
                  <a:latin typeface="Roboto"/>
                  <a:ea typeface="Roboto"/>
                  <a:cs typeface="Roboto"/>
                  <a:sym typeface="Roboto"/>
                </a:rPr>
                <a:t>Publicación del artículo en redes sociales y otras plataformas relevantes para aumentar su alcance.</a:t>
              </a:r>
              <a:endParaRPr b="1" sz="800">
                <a:latin typeface="Roboto"/>
                <a:ea typeface="Roboto"/>
                <a:cs typeface="Roboto"/>
                <a:sym typeface="Roboto"/>
              </a:endParaRPr>
            </a:p>
          </p:txBody>
        </p:sp>
        <p:cxnSp>
          <p:nvCxnSpPr>
            <p:cNvPr id="74" name="Google Shape;74;p15"/>
            <p:cNvCxnSpPr/>
            <p:nvPr/>
          </p:nvCxnSpPr>
          <p:spPr>
            <a:xfrm>
              <a:off x="5209838" y="1654113"/>
              <a:ext cx="1286700" cy="0"/>
            </a:xfrm>
            <a:prstGeom prst="straightConnector1">
              <a:avLst/>
            </a:prstGeom>
            <a:noFill/>
            <a:ln cap="flat" cmpd="sng" w="9525">
              <a:solidFill>
                <a:srgbClr val="155B55"/>
              </a:solidFill>
              <a:prstDash val="solid"/>
              <a:round/>
              <a:headEnd len="sm" w="sm" type="none"/>
              <a:tailEnd len="med" w="med" type="oval"/>
            </a:ln>
          </p:spPr>
        </p:cxnSp>
      </p:grpSp>
      <p:grpSp>
        <p:nvGrpSpPr>
          <p:cNvPr id="75" name="Google Shape;75;p15"/>
          <p:cNvGrpSpPr/>
          <p:nvPr/>
        </p:nvGrpSpPr>
        <p:grpSpPr>
          <a:xfrm>
            <a:off x="5617613" y="1999850"/>
            <a:ext cx="3210200" cy="924600"/>
            <a:chOff x="5610288" y="2313350"/>
            <a:chExt cx="3210200" cy="924600"/>
          </a:xfrm>
        </p:grpSpPr>
        <p:cxnSp>
          <p:nvCxnSpPr>
            <p:cNvPr id="76" name="Google Shape;76;p15"/>
            <p:cNvCxnSpPr/>
            <p:nvPr/>
          </p:nvCxnSpPr>
          <p:spPr>
            <a:xfrm>
              <a:off x="5610288" y="2775650"/>
              <a:ext cx="886200" cy="0"/>
            </a:xfrm>
            <a:prstGeom prst="straightConnector1">
              <a:avLst/>
            </a:prstGeom>
            <a:noFill/>
            <a:ln cap="flat" cmpd="sng" w="9525">
              <a:solidFill>
                <a:srgbClr val="1B786F"/>
              </a:solidFill>
              <a:prstDash val="solid"/>
              <a:round/>
              <a:headEnd len="sm" w="sm" type="none"/>
              <a:tailEnd len="med" w="med" type="oval"/>
            </a:ln>
          </p:spPr>
        </p:cxnSp>
        <p:sp>
          <p:nvSpPr>
            <p:cNvPr id="77" name="Google Shape;77;p15"/>
            <p:cNvSpPr txBox="1"/>
            <p:nvPr/>
          </p:nvSpPr>
          <p:spPr>
            <a:xfrm>
              <a:off x="6696488" y="2313350"/>
              <a:ext cx="2124000" cy="92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419" sz="1200">
                  <a:latin typeface="Roboto"/>
                  <a:ea typeface="Roboto"/>
                  <a:cs typeface="Roboto"/>
                  <a:sym typeface="Roboto"/>
                </a:rPr>
                <a:t>Enlazado interno y externo</a:t>
              </a:r>
              <a:endParaRPr b="1" sz="1200">
                <a:latin typeface="Roboto"/>
                <a:ea typeface="Roboto"/>
                <a:cs typeface="Roboto"/>
                <a:sym typeface="Roboto"/>
              </a:endParaRPr>
            </a:p>
            <a:p>
              <a:pPr indent="0" lvl="0" marL="0" rtl="0" algn="l">
                <a:spcBef>
                  <a:spcPts val="0"/>
                </a:spcBef>
                <a:spcAft>
                  <a:spcPts val="0"/>
                </a:spcAft>
                <a:buNone/>
              </a:pPr>
              <a:r>
                <a:t/>
              </a:r>
              <a:endParaRPr b="1" sz="800">
                <a:latin typeface="Roboto"/>
                <a:ea typeface="Roboto"/>
                <a:cs typeface="Roboto"/>
                <a:sym typeface="Roboto"/>
              </a:endParaRPr>
            </a:p>
            <a:p>
              <a:pPr indent="0" lvl="0" marL="0" rtl="0" algn="l">
                <a:spcBef>
                  <a:spcPts val="0"/>
                </a:spcBef>
                <a:spcAft>
                  <a:spcPts val="1600"/>
                </a:spcAft>
                <a:buNone/>
              </a:pPr>
              <a:r>
                <a:rPr lang="es-419" sz="800">
                  <a:latin typeface="Roboto"/>
                  <a:ea typeface="Roboto"/>
                  <a:cs typeface="Roboto"/>
                  <a:sym typeface="Roboto"/>
                </a:rPr>
                <a:t>Vinculación a otros artículos del blog para mantener al usuario navegando en el sitio web y enlazado a fuentes autorizadas para aumentar la credibilidad del contenido.</a:t>
              </a:r>
              <a:endParaRPr b="1" sz="800">
                <a:latin typeface="Roboto"/>
                <a:ea typeface="Roboto"/>
                <a:cs typeface="Roboto"/>
                <a:sym typeface="Roboto"/>
              </a:endParaRPr>
            </a:p>
          </p:txBody>
        </p:sp>
      </p:grpSp>
      <p:grpSp>
        <p:nvGrpSpPr>
          <p:cNvPr id="78" name="Google Shape;78;p15"/>
          <p:cNvGrpSpPr/>
          <p:nvPr/>
        </p:nvGrpSpPr>
        <p:grpSpPr>
          <a:xfrm>
            <a:off x="2608561" y="341451"/>
            <a:ext cx="3922200" cy="3915924"/>
            <a:chOff x="2610905" y="610653"/>
            <a:chExt cx="3922200" cy="3922200"/>
          </a:xfrm>
        </p:grpSpPr>
        <p:sp>
          <p:nvSpPr>
            <p:cNvPr id="79" name="Google Shape;79;p15"/>
            <p:cNvSpPr/>
            <p:nvPr/>
          </p:nvSpPr>
          <p:spPr>
            <a:xfrm rot="-4980021">
              <a:off x="3204123" y="1186472"/>
              <a:ext cx="2771960" cy="2771960"/>
            </a:xfrm>
            <a:prstGeom prst="blockArc">
              <a:avLst>
                <a:gd fmla="val 12602522" name="adj1"/>
                <a:gd fmla="val 16867657" name="adj2"/>
                <a:gd fmla="val 20844" name="adj3"/>
              </a:avLst>
            </a:prstGeom>
            <a:solidFill>
              <a:srgbClr val="1F88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p:nvPr/>
          </p:nvSpPr>
          <p:spPr>
            <a:xfrm rot="7920309">
              <a:off x="3183402" y="1183149"/>
              <a:ext cx="2777207" cy="2777207"/>
            </a:xfrm>
            <a:prstGeom prst="blockArc">
              <a:avLst>
                <a:gd fmla="val 12602522" name="adj1"/>
                <a:gd fmla="val 16867657" name="adj2"/>
                <a:gd fmla="val 20844" name="adj3"/>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p:nvPr/>
          </p:nvSpPr>
          <p:spPr>
            <a:xfrm rot="3600063">
              <a:off x="3186335" y="1195681"/>
              <a:ext cx="2777488" cy="2777488"/>
            </a:xfrm>
            <a:prstGeom prst="blockArc">
              <a:avLst>
                <a:gd fmla="val 12602522" name="adj1"/>
                <a:gd fmla="val 16867657" name="adj2"/>
                <a:gd fmla="val 20844" name="adj3"/>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5"/>
            <p:cNvSpPr/>
            <p:nvPr/>
          </p:nvSpPr>
          <p:spPr>
            <a:xfrm rot="4024705">
              <a:off x="5326681" y="1940898"/>
              <a:ext cx="578477" cy="579147"/>
            </a:xfrm>
            <a:prstGeom prst="pie">
              <a:avLst>
                <a:gd fmla="val 6190354" name="adj1"/>
                <a:gd fmla="val 14996165" name="adj2"/>
              </a:avLst>
            </a:prstGeom>
            <a:solidFill>
              <a:srgbClr val="1B786F"/>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5"/>
            <p:cNvSpPr/>
            <p:nvPr/>
          </p:nvSpPr>
          <p:spPr>
            <a:xfrm rot="-6816027">
              <a:off x="5326729" y="1940918"/>
              <a:ext cx="578485" cy="579035"/>
            </a:xfrm>
            <a:prstGeom prst="pie">
              <a:avLst>
                <a:gd fmla="val 4028252" name="adj1"/>
                <a:gd fmla="val 17183677" name="adj2"/>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5"/>
            <p:cNvSpPr/>
            <p:nvPr/>
          </p:nvSpPr>
          <p:spPr>
            <a:xfrm rot="-9359762">
              <a:off x="3193941" y="1176205"/>
              <a:ext cx="2777287" cy="2777287"/>
            </a:xfrm>
            <a:prstGeom prst="blockArc">
              <a:avLst>
                <a:gd fmla="val 12602522" name="adj1"/>
                <a:gd fmla="val 16867657" name="adj2"/>
                <a:gd fmla="val 20844" name="adj3"/>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5"/>
            <p:cNvSpPr/>
            <p:nvPr/>
          </p:nvSpPr>
          <p:spPr>
            <a:xfrm rot="-8936366">
              <a:off x="3659126" y="3173505"/>
              <a:ext cx="578551" cy="578963"/>
            </a:xfrm>
            <a:prstGeom prst="pie">
              <a:avLst>
                <a:gd fmla="val 6190354" name="adj1"/>
                <a:gd fmla="val 14996165" name="adj2"/>
              </a:avLst>
            </a:prstGeom>
            <a:solidFill>
              <a:srgbClr val="1F887E"/>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5"/>
            <p:cNvSpPr/>
            <p:nvPr/>
          </p:nvSpPr>
          <p:spPr>
            <a:xfrm rot="1824498">
              <a:off x="3659375" y="3173497"/>
              <a:ext cx="578475" cy="578885"/>
            </a:xfrm>
            <a:prstGeom prst="pie">
              <a:avLst>
                <a:gd fmla="val 4028252" name="adj1"/>
                <a:gd fmla="val 17183677" name="adj2"/>
              </a:avLst>
            </a:prstGeom>
            <a:solidFill>
              <a:srgbClr val="1F88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p:nvPr/>
          </p:nvSpPr>
          <p:spPr>
            <a:xfrm rot="-600092">
              <a:off x="3198852" y="1195456"/>
              <a:ext cx="2777611" cy="2777611"/>
            </a:xfrm>
            <a:prstGeom prst="blockArc">
              <a:avLst>
                <a:gd fmla="val 12513247" name="adj1"/>
                <a:gd fmla="val 16867657" name="adj2"/>
                <a:gd fmla="val 20844" name="adj3"/>
              </a:avLst>
            </a:prstGeom>
            <a:solidFill>
              <a:srgbClr val="249C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5"/>
            <p:cNvSpPr/>
            <p:nvPr/>
          </p:nvSpPr>
          <p:spPr>
            <a:xfrm rot="-176551">
              <a:off x="4312105" y="1195442"/>
              <a:ext cx="578563" cy="579162"/>
            </a:xfrm>
            <a:prstGeom prst="pie">
              <a:avLst>
                <a:gd fmla="val 6190354" name="adj1"/>
                <a:gd fmla="val 14996165" name="adj2"/>
              </a:avLst>
            </a:prstGeom>
            <a:solidFill>
              <a:srgbClr val="155B55"/>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rot="10584085">
              <a:off x="4312088" y="1195622"/>
              <a:ext cx="578340" cy="578939"/>
            </a:xfrm>
            <a:prstGeom prst="pie">
              <a:avLst>
                <a:gd fmla="val 4028252" name="adj1"/>
                <a:gd fmla="val 17183677" name="adj2"/>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rot="8344778">
              <a:off x="4940929" y="3162886"/>
              <a:ext cx="578465" cy="578888"/>
            </a:xfrm>
            <a:prstGeom prst="pie">
              <a:avLst>
                <a:gd fmla="val 6190354" name="adj1"/>
                <a:gd fmla="val 14996165" name="adj2"/>
              </a:avLst>
            </a:prstGeom>
            <a:solidFill>
              <a:srgbClr val="1D7E75"/>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5"/>
            <p:cNvSpPr/>
            <p:nvPr/>
          </p:nvSpPr>
          <p:spPr>
            <a:xfrm rot="-2495643">
              <a:off x="4941000" y="3162728"/>
              <a:ext cx="578445" cy="579093"/>
            </a:xfrm>
            <a:prstGeom prst="pie">
              <a:avLst>
                <a:gd fmla="val 4028252" name="adj1"/>
                <a:gd fmla="val 17183677" name="adj2"/>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5"/>
            <p:cNvSpPr/>
            <p:nvPr/>
          </p:nvSpPr>
          <p:spPr>
            <a:xfrm rot="-4556960">
              <a:off x="3257335" y="1939059"/>
              <a:ext cx="578302" cy="578957"/>
            </a:xfrm>
            <a:prstGeom prst="pie">
              <a:avLst>
                <a:gd fmla="val 6190354" name="adj1"/>
                <a:gd fmla="val 14996165" name="adj2"/>
              </a:avLst>
            </a:prstGeom>
            <a:solidFill>
              <a:srgbClr val="249C91"/>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5"/>
            <p:cNvSpPr/>
            <p:nvPr/>
          </p:nvSpPr>
          <p:spPr>
            <a:xfrm rot="6204541">
              <a:off x="3257468" y="1938977"/>
              <a:ext cx="578264" cy="578917"/>
            </a:xfrm>
            <a:prstGeom prst="pie">
              <a:avLst>
                <a:gd fmla="val 4028252" name="adj1"/>
                <a:gd fmla="val 17183677" name="adj2"/>
              </a:avLst>
            </a:prstGeom>
            <a:solidFill>
              <a:srgbClr val="249C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5"/>
            <p:cNvSpPr txBox="1"/>
            <p:nvPr/>
          </p:nvSpPr>
          <p:spPr>
            <a:xfrm>
              <a:off x="4341900" y="1271896"/>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rgbClr val="FFFFFF"/>
                  </a:solidFill>
                  <a:latin typeface="Roboto"/>
                  <a:ea typeface="Roboto"/>
                  <a:cs typeface="Roboto"/>
                  <a:sym typeface="Roboto"/>
                </a:rPr>
                <a:t>06</a:t>
              </a:r>
              <a:endParaRPr b="1" sz="1600">
                <a:solidFill>
                  <a:srgbClr val="FFFFFF"/>
                </a:solidFill>
                <a:latin typeface="Roboto"/>
                <a:ea typeface="Roboto"/>
                <a:cs typeface="Roboto"/>
                <a:sym typeface="Roboto"/>
              </a:endParaRPr>
            </a:p>
          </p:txBody>
        </p:sp>
        <p:sp>
          <p:nvSpPr>
            <p:cNvPr id="95" name="Google Shape;95;p15"/>
            <p:cNvSpPr txBox="1"/>
            <p:nvPr/>
          </p:nvSpPr>
          <p:spPr>
            <a:xfrm>
              <a:off x="3602457" y="1676843"/>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rgbClr val="FFFFFF"/>
                  </a:solidFill>
                  <a:latin typeface="Roboto"/>
                  <a:ea typeface="Roboto"/>
                  <a:cs typeface="Roboto"/>
                  <a:sym typeface="Roboto"/>
                </a:rPr>
                <a:t>01</a:t>
              </a:r>
              <a:endParaRPr b="1" sz="1600">
                <a:solidFill>
                  <a:srgbClr val="FFFFFF"/>
                </a:solidFill>
                <a:latin typeface="Roboto"/>
                <a:ea typeface="Roboto"/>
                <a:cs typeface="Roboto"/>
                <a:sym typeface="Roboto"/>
              </a:endParaRPr>
            </a:p>
          </p:txBody>
        </p:sp>
        <p:sp>
          <p:nvSpPr>
            <p:cNvPr id="96" name="Google Shape;96;p15"/>
            <p:cNvSpPr txBox="1"/>
            <p:nvPr/>
          </p:nvSpPr>
          <p:spPr>
            <a:xfrm>
              <a:off x="4955323" y="3247321"/>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rgbClr val="FFFFFF"/>
                  </a:solidFill>
                  <a:latin typeface="Roboto"/>
                  <a:ea typeface="Roboto"/>
                  <a:cs typeface="Roboto"/>
                  <a:sym typeface="Roboto"/>
                </a:rPr>
                <a:t>04</a:t>
              </a:r>
              <a:endParaRPr b="1" sz="1600">
                <a:solidFill>
                  <a:srgbClr val="FFFFFF"/>
                </a:solidFill>
                <a:latin typeface="Roboto"/>
                <a:ea typeface="Roboto"/>
                <a:cs typeface="Roboto"/>
                <a:sym typeface="Roboto"/>
              </a:endParaRPr>
            </a:p>
            <a:p>
              <a:pPr indent="0" lvl="0" marL="0" rtl="0" algn="ctr">
                <a:spcBef>
                  <a:spcPts val="0"/>
                </a:spcBef>
                <a:spcAft>
                  <a:spcPts val="0"/>
                </a:spcAft>
                <a:buNone/>
              </a:pPr>
              <a:r>
                <a:t/>
              </a:r>
              <a:endParaRPr b="1" sz="1600">
                <a:solidFill>
                  <a:srgbClr val="FFFFFF"/>
                </a:solidFill>
                <a:latin typeface="Roboto"/>
                <a:ea typeface="Roboto"/>
                <a:cs typeface="Roboto"/>
                <a:sym typeface="Roboto"/>
              </a:endParaRPr>
            </a:p>
          </p:txBody>
        </p:sp>
        <p:sp>
          <p:nvSpPr>
            <p:cNvPr id="97" name="Google Shape;97;p15"/>
            <p:cNvSpPr txBox="1"/>
            <p:nvPr/>
          </p:nvSpPr>
          <p:spPr>
            <a:xfrm>
              <a:off x="5364737" y="2018364"/>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rgbClr val="FFFFFF"/>
                  </a:solidFill>
                  <a:latin typeface="Roboto"/>
                  <a:ea typeface="Roboto"/>
                  <a:cs typeface="Roboto"/>
                  <a:sym typeface="Roboto"/>
                </a:rPr>
                <a:t>05</a:t>
              </a:r>
              <a:endParaRPr b="1" sz="1600">
                <a:solidFill>
                  <a:srgbClr val="FFFFFF"/>
                </a:solidFill>
                <a:latin typeface="Roboto"/>
                <a:ea typeface="Roboto"/>
                <a:cs typeface="Roboto"/>
                <a:sym typeface="Roboto"/>
              </a:endParaRPr>
            </a:p>
            <a:p>
              <a:pPr indent="0" lvl="0" marL="0" rtl="0" algn="ctr">
                <a:spcBef>
                  <a:spcPts val="0"/>
                </a:spcBef>
                <a:spcAft>
                  <a:spcPts val="0"/>
                </a:spcAft>
                <a:buNone/>
              </a:pPr>
              <a:r>
                <a:t/>
              </a:r>
              <a:endParaRPr b="1" sz="1600">
                <a:solidFill>
                  <a:srgbClr val="FFFFFF"/>
                </a:solidFill>
                <a:latin typeface="Roboto"/>
                <a:ea typeface="Roboto"/>
                <a:cs typeface="Roboto"/>
                <a:sym typeface="Roboto"/>
              </a:endParaRPr>
            </a:p>
          </p:txBody>
        </p:sp>
        <p:sp>
          <p:nvSpPr>
            <p:cNvPr id="98" name="Google Shape;98;p15"/>
            <p:cNvSpPr txBox="1"/>
            <p:nvPr/>
          </p:nvSpPr>
          <p:spPr>
            <a:xfrm>
              <a:off x="3685317" y="3247321"/>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grpSp>
      <p:sp>
        <p:nvSpPr>
          <p:cNvPr id="99" name="Google Shape;99;p15"/>
          <p:cNvSpPr txBox="1"/>
          <p:nvPr/>
        </p:nvSpPr>
        <p:spPr>
          <a:xfrm>
            <a:off x="366938" y="1009325"/>
            <a:ext cx="2124000" cy="92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s-419" sz="1200">
                <a:latin typeface="Roboto"/>
                <a:ea typeface="Roboto"/>
                <a:cs typeface="Roboto"/>
                <a:sym typeface="Roboto"/>
              </a:rPr>
              <a:t>Investigación de palabras clave</a:t>
            </a:r>
            <a:endParaRPr b="1" sz="1200">
              <a:latin typeface="Roboto"/>
              <a:ea typeface="Roboto"/>
              <a:cs typeface="Roboto"/>
              <a:sym typeface="Roboto"/>
            </a:endParaRPr>
          </a:p>
          <a:p>
            <a:pPr indent="0" lvl="0" marL="0" rtl="0" algn="r">
              <a:spcBef>
                <a:spcPts val="0"/>
              </a:spcBef>
              <a:spcAft>
                <a:spcPts val="1600"/>
              </a:spcAft>
              <a:buNone/>
            </a:pPr>
            <a:r>
              <a:rPr lang="es-419" sz="800">
                <a:latin typeface="Roboto"/>
                <a:ea typeface="Roboto"/>
                <a:cs typeface="Roboto"/>
                <a:sym typeface="Roboto"/>
              </a:rPr>
              <a:t>Análisis de términos y frases del público objetivo para buscar información relacionada con el nicho.</a:t>
            </a:r>
            <a:endParaRPr sz="800">
              <a:latin typeface="Roboto"/>
              <a:ea typeface="Roboto"/>
              <a:cs typeface="Roboto"/>
              <a:sym typeface="Roboto"/>
            </a:endParaRPr>
          </a:p>
        </p:txBody>
      </p:sp>
      <p:grpSp>
        <p:nvGrpSpPr>
          <p:cNvPr id="100" name="Google Shape;100;p15"/>
          <p:cNvGrpSpPr/>
          <p:nvPr/>
        </p:nvGrpSpPr>
        <p:grpSpPr>
          <a:xfrm>
            <a:off x="1556738" y="2445338"/>
            <a:ext cx="3507600" cy="1812038"/>
            <a:chOff x="359613" y="1654113"/>
            <a:chExt cx="3507600" cy="1812038"/>
          </a:xfrm>
        </p:grpSpPr>
        <p:cxnSp>
          <p:nvCxnSpPr>
            <p:cNvPr id="101" name="Google Shape;101;p15"/>
            <p:cNvCxnSpPr/>
            <p:nvPr/>
          </p:nvCxnSpPr>
          <p:spPr>
            <a:xfrm rot="10800000">
              <a:off x="2642013" y="1654113"/>
              <a:ext cx="1225200" cy="0"/>
            </a:xfrm>
            <a:prstGeom prst="straightConnector1">
              <a:avLst/>
            </a:prstGeom>
            <a:noFill/>
            <a:ln cap="flat" cmpd="sng" w="9525">
              <a:solidFill>
                <a:srgbClr val="249C91"/>
              </a:solidFill>
              <a:prstDash val="solid"/>
              <a:round/>
              <a:headEnd len="sm" w="sm" type="none"/>
              <a:tailEnd len="med" w="med" type="oval"/>
            </a:ln>
          </p:spPr>
        </p:cxnSp>
        <p:sp>
          <p:nvSpPr>
            <p:cNvPr id="102" name="Google Shape;102;p15"/>
            <p:cNvSpPr txBox="1"/>
            <p:nvPr/>
          </p:nvSpPr>
          <p:spPr>
            <a:xfrm>
              <a:off x="359613" y="2541550"/>
              <a:ext cx="2124000" cy="92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s-419" sz="1200">
                  <a:latin typeface="Roboto"/>
                  <a:ea typeface="Roboto"/>
                  <a:cs typeface="Roboto"/>
                  <a:sym typeface="Roboto"/>
                </a:rPr>
                <a:t>Escritura del artículo</a:t>
              </a:r>
              <a:endParaRPr b="1" sz="1200">
                <a:latin typeface="Roboto"/>
                <a:ea typeface="Roboto"/>
                <a:cs typeface="Roboto"/>
                <a:sym typeface="Roboto"/>
              </a:endParaRPr>
            </a:p>
            <a:p>
              <a:pPr indent="0" lvl="0" marL="0" rtl="0" algn="r">
                <a:spcBef>
                  <a:spcPts val="0"/>
                </a:spcBef>
                <a:spcAft>
                  <a:spcPts val="1600"/>
                </a:spcAft>
                <a:buNone/>
              </a:pPr>
              <a:r>
                <a:rPr lang="es-419" sz="800">
                  <a:latin typeface="Roboto"/>
                  <a:ea typeface="Roboto"/>
                  <a:cs typeface="Roboto"/>
                  <a:sym typeface="Roboto"/>
                </a:rPr>
                <a:t>Producción de contenido que aporte valor real a los lectores. Debe ser informativo, preciso y resolver las dudas o problemas de la audiencia.</a:t>
              </a:r>
              <a:endParaRPr sz="800">
                <a:latin typeface="Roboto"/>
                <a:ea typeface="Roboto"/>
                <a:cs typeface="Roboto"/>
                <a:sym typeface="Roboto"/>
              </a:endParaRPr>
            </a:p>
          </p:txBody>
        </p:sp>
      </p:grpSp>
      <p:sp>
        <p:nvSpPr>
          <p:cNvPr id="103" name="Google Shape;103;p15"/>
          <p:cNvSpPr txBox="1"/>
          <p:nvPr/>
        </p:nvSpPr>
        <p:spPr>
          <a:xfrm>
            <a:off x="3150388" y="2240285"/>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rgbClr val="FFFFFF"/>
                </a:solidFill>
                <a:latin typeface="Roboto"/>
                <a:ea typeface="Roboto"/>
                <a:cs typeface="Roboto"/>
                <a:sym typeface="Roboto"/>
              </a:rPr>
              <a:t>02</a:t>
            </a:r>
            <a:endParaRPr b="1" sz="1600">
              <a:solidFill>
                <a:srgbClr val="FFFFFF"/>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nvSpPr>
        <p:spPr>
          <a:xfrm>
            <a:off x="552150" y="195875"/>
            <a:ext cx="7935600" cy="446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a:solidFill>
                  <a:schemeClr val="dk2"/>
                </a:solidFill>
              </a:rPr>
              <a:t>¿Qué se obtiene con la redacción de artículos SEO?</a:t>
            </a:r>
            <a:endParaRPr b="1">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rPr lang="es-419" sz="1000">
                <a:solidFill>
                  <a:schemeClr val="dk2"/>
                </a:solidFill>
              </a:rPr>
              <a:t>Una persona que contrata servicios de redacción de artículos SEO puede esperar obtener una serie de resultados positivos y beneficios tangibles para su sitio web o blog, que contribuyen directamente a sus objetivos de marketing en línea y de negocio en general. Estos resultados incluyen:</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Mejora en el Posicionamiento en Motores de Búsqueda:</a:t>
            </a:r>
            <a:r>
              <a:rPr lang="es-419" sz="1000">
                <a:solidFill>
                  <a:schemeClr val="dk2"/>
                </a:solidFill>
              </a:rPr>
              <a:t> Los artículos optimizados para SEO ayudan a mejorar el ranking del sitio web en los resultados de búsqueda para palabras clave relevantes, lo que aumenta la visibilidad y la probabilidad de ser encontrado por el público objetivo.</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Aumento del Tráfico Orgánico:</a:t>
            </a:r>
            <a:r>
              <a:rPr lang="es-419" sz="1000">
                <a:solidFill>
                  <a:schemeClr val="dk2"/>
                </a:solidFill>
              </a:rPr>
              <a:t> Al posicionarse mejor en los resultados de búsqueda, el sitio web atrae a más visitantes interesados en el contenido, lo que se traduce en un incremento del tráfico orgánico.</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Contenido de Alta Calidad y Relevancia:</a:t>
            </a:r>
            <a:r>
              <a:rPr lang="es-419" sz="1000">
                <a:solidFill>
                  <a:schemeClr val="dk2"/>
                </a:solidFill>
              </a:rPr>
              <a:t> El servicio asegura la creación de contenido no solo optimizado para los motores de búsqueda, sino también valioso y atractivo para los lectores, lo que fomenta la retención de visitantes y el engagement.</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Construcción de Autoridad:</a:t>
            </a:r>
            <a:r>
              <a:rPr lang="es-419" sz="1000">
                <a:solidFill>
                  <a:schemeClr val="dk2"/>
                </a:solidFill>
              </a:rPr>
              <a:t> Publicar contenido informativo, útil y bien investigado establece al sitio web o al autor como una autoridad en su nicho o industria, lo que puede mejorar la confianza y credibilidad entre los usuarios.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Engagement y Participación de la Audiencia:</a:t>
            </a:r>
            <a:r>
              <a:rPr lang="es-419" sz="1000">
                <a:solidFill>
                  <a:schemeClr val="dk2"/>
                </a:solidFill>
              </a:rPr>
              <a:t> Los artículos bien redactados y relevantes invitan a la interacción, ya sea a través de comentarios, compartiendo en redes sociales, o la realización de alguna acción específica, como suscribirse a un boletín de noticias.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Generación de Leads:</a:t>
            </a:r>
            <a:r>
              <a:rPr lang="es-419" sz="1000">
                <a:solidFill>
                  <a:schemeClr val="dk2"/>
                </a:solidFill>
              </a:rPr>
              <a:t> El contenido optimizado puede diseñarse para capturar leads, ya sea a través de formularios de contacto, ofertas de contenido gratuito (como eBooks o webinars), o incentivos para la suscripción por correo electrónico.</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Mejora en la Tasa de Conversión:</a:t>
            </a:r>
            <a:r>
              <a:rPr lang="es-419" sz="1000">
                <a:solidFill>
                  <a:schemeClr val="dk2"/>
                </a:solidFill>
              </a:rPr>
              <a:t> Al dirigir tráfico cualificado al sitio y ofrecer contenido que guía a los usuarios a través del embudo de conversión, se pueden mejorar las tasas de conversión, ya sea para ventas, registros, descargas o cualquier otro objetivo de negocio.</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Insights sobre el Público Objetivo:</a:t>
            </a:r>
            <a:r>
              <a:rPr lang="es-419" sz="1000">
                <a:solidFill>
                  <a:schemeClr val="dk2"/>
                </a:solidFill>
              </a:rPr>
              <a:t> La investigación de palabras clave y el análisis del rendimiento del contenido pueden proporcionar valiosos insights sobre los intereses y comportamientos del público objetivo, lo que permite ajustar estrategias de contenido y de negocio.</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Ventaja Competitiva:</a:t>
            </a:r>
            <a:r>
              <a:rPr lang="es-419" sz="1000">
                <a:solidFill>
                  <a:schemeClr val="dk2"/>
                </a:solidFill>
              </a:rPr>
              <a:t> Al mantener un sitio actualizado con contenido fresco y optimizado, se puede obtener una ventaja competitiva en términos de visibilidad y autoridad sobre otros sitios que no invierten en SEO o en la calidad del contenido.</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Adaptabilidad a Cambios en Algoritmos:</a:t>
            </a:r>
            <a:r>
              <a:rPr lang="es-419" sz="1000">
                <a:solidFill>
                  <a:schemeClr val="dk2"/>
                </a:solidFill>
              </a:rPr>
              <a:t> Un servicio profesional de redacción SEO está al tanto de las últimas tendencias y cambios en los algoritmos de búsqueda, adaptando las estrategias de contenido para mantener o mejorar el rendimiento a lo largo del tiempo.</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None/>
            </a:pPr>
            <a:r>
              <a:rPr lang="es-419" sz="1000">
                <a:solidFill>
                  <a:schemeClr val="dk2"/>
                </a:solidFill>
              </a:rPr>
              <a:t>En resumen, al contratar servicios de redacción de artículos SEO, se obtiene un contenido que no solo cumple con los estándares de optimización para motores de búsqueda, sino que también atrae y retiene a la audiencia objetivo, establece autoridad en el nicho y contribuye significativamente a los objetivos generales de crecimiento y éxito en línea.</a:t>
            </a:r>
            <a:endParaRPr sz="10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