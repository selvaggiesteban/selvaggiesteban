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Lst>
  <p:sldSz cy="5143500" cx="9144000"/>
  <p:notesSz cx="6858000" cy="9144000"/>
  <p:embeddedFontLst>
    <p:embeddedFont>
      <p:font typeface="Roboto"/>
      <p:regular r:id="rId10"/>
      <p:bold r:id="rId11"/>
      <p:italic r:id="rId12"/>
      <p:boldItalic r:id="rId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14" roundtripDataSignature="AMtx7mgPCoHPTHJUwKP9zNjLNs2bD2rgh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Roboto-bold.fntdata"/><Relationship Id="rId10" Type="http://schemas.openxmlformats.org/officeDocument/2006/relationships/font" Target="fonts/Roboto-regular.fntdata"/><Relationship Id="rId13" Type="http://schemas.openxmlformats.org/officeDocument/2006/relationships/font" Target="fonts/Roboto-boldItalic.fntdata"/><Relationship Id="rId12" Type="http://schemas.openxmlformats.org/officeDocument/2006/relationships/font" Target="fonts/Robo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 name="Google Shape;5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 name="Google Shape;6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1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1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1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1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1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1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1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1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nvSpPr>
        <p:spPr>
          <a:xfrm>
            <a:off x="544875" y="377250"/>
            <a:ext cx="8196900" cy="447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s-419" u="none" cap="none" strike="noStrike">
                <a:solidFill>
                  <a:schemeClr val="dk2"/>
                </a:solidFill>
              </a:rPr>
              <a:t>¿De que se trata el servicio SEO?</a:t>
            </a:r>
            <a:endParaRPr b="1" i="0" u="none" cap="none" strike="noStrike">
              <a:solidFill>
                <a:schemeClr val="dk2"/>
              </a:solidFill>
            </a:endParaRPr>
          </a:p>
          <a:p>
            <a:pPr indent="0" lvl="0" marL="0" marR="0" rtl="0" algn="l">
              <a:lnSpc>
                <a:spcPct val="100000"/>
              </a:lnSpc>
              <a:spcBef>
                <a:spcPts val="0"/>
              </a:spcBef>
              <a:spcAft>
                <a:spcPts val="0"/>
              </a:spcAft>
              <a:buClr>
                <a:srgbClr val="000000"/>
              </a:buClr>
              <a:buSzPts val="1000"/>
              <a:buFont typeface="Arial"/>
              <a:buNone/>
            </a:pPr>
            <a:r>
              <a:t/>
            </a:r>
            <a:endParaRPr sz="1000">
              <a:solidFill>
                <a:schemeClr val="dk2"/>
              </a:solidFill>
            </a:endParaRPr>
          </a:p>
          <a:p>
            <a:pPr indent="0" lvl="0" marL="0" marR="0" rtl="0" algn="l">
              <a:lnSpc>
                <a:spcPct val="100000"/>
              </a:lnSpc>
              <a:spcBef>
                <a:spcPts val="0"/>
              </a:spcBef>
              <a:spcAft>
                <a:spcPts val="0"/>
              </a:spcAft>
              <a:buClr>
                <a:srgbClr val="000000"/>
              </a:buClr>
              <a:buSzPts val="1000"/>
              <a:buFont typeface="Arial"/>
              <a:buNone/>
            </a:pPr>
            <a:r>
              <a:rPr lang="es-419" sz="1000">
                <a:solidFill>
                  <a:schemeClr val="dk2"/>
                </a:solidFill>
              </a:rPr>
              <a:t>El servicio de SEO (Search Engine Optimization, por sus siglas en inglés) se refiere al conjunto de estrategias y prácticas enfocadas en mejorar la visibilidad y el posicionamiento de un sitio web en los resultados orgánicos de los motores de búsqueda, como Google, Bing, Yahoo, entre otros. El objetivo principal del SEO es atraer tráfico de calidad hacia el sitio web, incrementando así las posibilidades de conversión o cumplimiento de objetivos específicos de la página.</a:t>
            </a:r>
            <a:endParaRPr sz="1000">
              <a:solidFill>
                <a:schemeClr val="dk2"/>
              </a:solidFill>
            </a:endParaRPr>
          </a:p>
          <a:p>
            <a:pPr indent="0" lvl="0" marL="0" marR="0" rtl="0" algn="l">
              <a:lnSpc>
                <a:spcPct val="100000"/>
              </a:lnSpc>
              <a:spcBef>
                <a:spcPts val="0"/>
              </a:spcBef>
              <a:spcAft>
                <a:spcPts val="0"/>
              </a:spcAft>
              <a:buClr>
                <a:srgbClr val="000000"/>
              </a:buClr>
              <a:buSzPts val="1000"/>
              <a:buFont typeface="Arial"/>
              <a:buNone/>
            </a:pPr>
            <a:r>
              <a:t/>
            </a:r>
            <a:endParaRPr sz="1000">
              <a:solidFill>
                <a:schemeClr val="dk2"/>
              </a:solidFill>
            </a:endParaRPr>
          </a:p>
          <a:p>
            <a:pPr indent="0" lvl="0" marL="0" marR="0" rtl="0" algn="l">
              <a:lnSpc>
                <a:spcPct val="100000"/>
              </a:lnSpc>
              <a:spcBef>
                <a:spcPts val="0"/>
              </a:spcBef>
              <a:spcAft>
                <a:spcPts val="0"/>
              </a:spcAft>
              <a:buClr>
                <a:srgbClr val="000000"/>
              </a:buClr>
              <a:buSzPts val="1000"/>
              <a:buFont typeface="Arial"/>
              <a:buNone/>
            </a:pPr>
            <a:r>
              <a:rPr lang="es-419" sz="1000">
                <a:solidFill>
                  <a:schemeClr val="dk2"/>
                </a:solidFill>
              </a:rPr>
              <a:t>El SEO abarca diversas técnicas y metodologías, que pueden clasificarse en dos grandes categorías:</a:t>
            </a:r>
            <a:endParaRPr sz="1000">
              <a:solidFill>
                <a:schemeClr val="dk2"/>
              </a:solidFill>
            </a:endParaRPr>
          </a:p>
          <a:p>
            <a:pPr indent="0" lvl="0" marL="0" marR="0" rtl="0" algn="l">
              <a:lnSpc>
                <a:spcPct val="100000"/>
              </a:lnSpc>
              <a:spcBef>
                <a:spcPts val="0"/>
              </a:spcBef>
              <a:spcAft>
                <a:spcPts val="0"/>
              </a:spcAft>
              <a:buClr>
                <a:srgbClr val="000000"/>
              </a:buClr>
              <a:buSzPts val="1000"/>
              <a:buFont typeface="Arial"/>
              <a:buNone/>
            </a:pPr>
            <a:r>
              <a:t/>
            </a:r>
            <a:endParaRPr sz="1000">
              <a:solidFill>
                <a:schemeClr val="dk2"/>
              </a:solidFill>
            </a:endParaRPr>
          </a:p>
          <a:p>
            <a:pPr indent="-292100" lvl="0" marL="457200" marR="0" rtl="0" algn="l">
              <a:lnSpc>
                <a:spcPct val="100000"/>
              </a:lnSpc>
              <a:spcBef>
                <a:spcPts val="0"/>
              </a:spcBef>
              <a:spcAft>
                <a:spcPts val="0"/>
              </a:spcAft>
              <a:buClr>
                <a:schemeClr val="dk2"/>
              </a:buClr>
              <a:buSzPts val="1000"/>
              <a:buChar char="●"/>
            </a:pPr>
            <a:r>
              <a:rPr lang="es-419" sz="1000" u="sng">
                <a:solidFill>
                  <a:schemeClr val="dk2"/>
                </a:solidFill>
              </a:rPr>
              <a:t>SEO On-Page:</a:t>
            </a:r>
            <a:r>
              <a:rPr lang="es-419" sz="1000">
                <a:solidFill>
                  <a:schemeClr val="dk2"/>
                </a:solidFill>
              </a:rPr>
              <a:t> Incluye todas las acciones que se pueden realizar dentro del sitio web para mejorar su posicionamiento. Esto implica la optimización de contenido, uso de palabras clave relevantes, mejorar la velocidad de carga de la página, asegurar una experiencia de usuario positiva, optimización de etiquetas meta, imágenes, y la estructura del sitio (URLs amigables, uso de etiquetas HTML para estructurar el contenido, etc.).</a:t>
            </a:r>
            <a:endParaRPr sz="1000">
              <a:solidFill>
                <a:schemeClr val="dk2"/>
              </a:solidFill>
            </a:endParaRPr>
          </a:p>
          <a:p>
            <a:pPr indent="-292100" lvl="0" marL="457200" marR="0" rtl="0" algn="l">
              <a:lnSpc>
                <a:spcPct val="100000"/>
              </a:lnSpc>
              <a:spcBef>
                <a:spcPts val="0"/>
              </a:spcBef>
              <a:spcAft>
                <a:spcPts val="0"/>
              </a:spcAft>
              <a:buClr>
                <a:schemeClr val="dk2"/>
              </a:buClr>
              <a:buSzPts val="1000"/>
              <a:buChar char="●"/>
            </a:pPr>
            <a:r>
              <a:rPr lang="es-419" sz="1000" u="sng">
                <a:solidFill>
                  <a:schemeClr val="dk2"/>
                </a:solidFill>
              </a:rPr>
              <a:t>SEO Off-Page:</a:t>
            </a:r>
            <a:r>
              <a:rPr lang="es-419" sz="1000">
                <a:solidFill>
                  <a:schemeClr val="dk2"/>
                </a:solidFill>
              </a:rPr>
              <a:t> Se refiere a las estrategias implementadas fuera del sitio web para mejorar su reputación y visibilidad. Esto incluye la construcción de enlaces (link building) de calidad hacia el sitio web, menciones de la marca en redes sociales y otros sitios web, estrategias de contenido que generen interacción y compartición, entre otros.</a:t>
            </a:r>
            <a:endParaRPr sz="1000">
              <a:solidFill>
                <a:schemeClr val="dk2"/>
              </a:solidFill>
            </a:endParaRPr>
          </a:p>
          <a:p>
            <a:pPr indent="0" lvl="0" marL="0" marR="0" rtl="0" algn="l">
              <a:lnSpc>
                <a:spcPct val="100000"/>
              </a:lnSpc>
              <a:spcBef>
                <a:spcPts val="0"/>
              </a:spcBef>
              <a:spcAft>
                <a:spcPts val="0"/>
              </a:spcAft>
              <a:buClr>
                <a:srgbClr val="000000"/>
              </a:buClr>
              <a:buSzPts val="1000"/>
              <a:buFont typeface="Arial"/>
              <a:buNone/>
            </a:pPr>
            <a:r>
              <a:t/>
            </a:r>
            <a:endParaRPr sz="1000">
              <a:solidFill>
                <a:schemeClr val="dk2"/>
              </a:solidFill>
            </a:endParaRPr>
          </a:p>
          <a:p>
            <a:pPr indent="0" lvl="0" marL="0" marR="0" rtl="0" algn="l">
              <a:lnSpc>
                <a:spcPct val="100000"/>
              </a:lnSpc>
              <a:spcBef>
                <a:spcPts val="0"/>
              </a:spcBef>
              <a:spcAft>
                <a:spcPts val="0"/>
              </a:spcAft>
              <a:buClr>
                <a:srgbClr val="000000"/>
              </a:buClr>
              <a:buSzPts val="1000"/>
              <a:buFont typeface="Arial"/>
              <a:buNone/>
            </a:pPr>
            <a:r>
              <a:rPr lang="es-419" sz="1000">
                <a:solidFill>
                  <a:schemeClr val="dk2"/>
                </a:solidFill>
              </a:rPr>
              <a:t>Además, un aspecto crucial del SEO es la búsqueda y análisis de palabras clave, que permite identificar los términos y frases que el público objetivo utiliza para buscar productos, servicios o información relevante en internet. Esto guía la creación y optimización del contenido del sitio web para satisfacer las necesidades de información y búsqueda de los usuarios, aumentando así las posibilidades de ser encontrado y clasificado favorablemente por los motores de búsqueda.</a:t>
            </a:r>
            <a:endParaRPr sz="1000">
              <a:solidFill>
                <a:schemeClr val="dk2"/>
              </a:solidFill>
            </a:endParaRPr>
          </a:p>
          <a:p>
            <a:pPr indent="0" lvl="0" marL="0" marR="0" rtl="0" algn="l">
              <a:lnSpc>
                <a:spcPct val="100000"/>
              </a:lnSpc>
              <a:spcBef>
                <a:spcPts val="0"/>
              </a:spcBef>
              <a:spcAft>
                <a:spcPts val="0"/>
              </a:spcAft>
              <a:buClr>
                <a:srgbClr val="000000"/>
              </a:buClr>
              <a:buSzPts val="1000"/>
              <a:buFont typeface="Arial"/>
              <a:buNone/>
            </a:pPr>
            <a:r>
              <a:t/>
            </a:r>
            <a:endParaRPr sz="1000">
              <a:solidFill>
                <a:schemeClr val="dk2"/>
              </a:solidFill>
            </a:endParaRPr>
          </a:p>
          <a:p>
            <a:pPr indent="0" lvl="0" marL="0" marR="0" rtl="0" algn="l">
              <a:lnSpc>
                <a:spcPct val="100000"/>
              </a:lnSpc>
              <a:spcBef>
                <a:spcPts val="0"/>
              </a:spcBef>
              <a:spcAft>
                <a:spcPts val="0"/>
              </a:spcAft>
              <a:buClr>
                <a:srgbClr val="000000"/>
              </a:buClr>
              <a:buSzPts val="1000"/>
              <a:buFont typeface="Arial"/>
              <a:buNone/>
            </a:pPr>
            <a:r>
              <a:rPr lang="es-419" sz="1000">
                <a:solidFill>
                  <a:schemeClr val="dk2"/>
                </a:solidFill>
              </a:rPr>
              <a:t>El SEO es una disciplina en constante evolución, ya que los motores de búsqueda actualizan periódicamente sus algoritmos para ofrecer los mejores resultados a los usuarios. Esto significa que las estrategias y técnicas de SEO deben revisarse y actualizarse regularmente para mantener o mejorar el posicionamiento de un sitio web en los resultados de búsqueda.</a:t>
            </a:r>
            <a:endParaRPr sz="10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2"/>
          <p:cNvSpPr txBox="1"/>
          <p:nvPr/>
        </p:nvSpPr>
        <p:spPr>
          <a:xfrm>
            <a:off x="544875" y="275675"/>
            <a:ext cx="8291100" cy="451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s-419" u="none" cap="none" strike="noStrike">
                <a:solidFill>
                  <a:schemeClr val="dk2"/>
                </a:solidFill>
              </a:rPr>
              <a:t>¿Qué beneficios obtendrás al contratar este servicio?:</a:t>
            </a:r>
            <a:endParaRPr b="1">
              <a:solidFill>
                <a:schemeClr val="dk2"/>
              </a:solidFill>
            </a:endParaRPr>
          </a:p>
          <a:p>
            <a:pPr indent="0" lvl="0" marL="0" marR="0" rtl="0" algn="l">
              <a:lnSpc>
                <a:spcPct val="100000"/>
              </a:lnSpc>
              <a:spcBef>
                <a:spcPts val="0"/>
              </a:spcBef>
              <a:spcAft>
                <a:spcPts val="0"/>
              </a:spcAft>
              <a:buClr>
                <a:srgbClr val="000000"/>
              </a:buClr>
              <a:buSzPts val="1000"/>
              <a:buFont typeface="Arial"/>
              <a:buNone/>
            </a:pPr>
            <a:r>
              <a:t/>
            </a:r>
            <a:endParaRPr sz="1000">
              <a:solidFill>
                <a:schemeClr val="dk2"/>
              </a:solidFill>
            </a:endParaRPr>
          </a:p>
          <a:p>
            <a:pPr indent="0" lvl="0" marL="0" marR="0" rtl="0" algn="l">
              <a:lnSpc>
                <a:spcPct val="100000"/>
              </a:lnSpc>
              <a:spcBef>
                <a:spcPts val="0"/>
              </a:spcBef>
              <a:spcAft>
                <a:spcPts val="0"/>
              </a:spcAft>
              <a:buClr>
                <a:srgbClr val="000000"/>
              </a:buClr>
              <a:buSzPts val="1000"/>
              <a:buFont typeface="Arial"/>
              <a:buNone/>
            </a:pPr>
            <a:r>
              <a:rPr lang="es-419" sz="1000">
                <a:solidFill>
                  <a:schemeClr val="dk2"/>
                </a:solidFill>
              </a:rPr>
              <a:t>Contratar un servicio de SEO puede ofrecer una amplia gama de beneficios para tu negocio o proyecto en línea, contribuyendo significativamente a su crecimiento y éxito. Algunos de los beneficios más destacados incluyen:</a:t>
            </a:r>
            <a:endParaRPr sz="1000">
              <a:solidFill>
                <a:schemeClr val="dk2"/>
              </a:solidFill>
            </a:endParaRPr>
          </a:p>
          <a:p>
            <a:pPr indent="0" lvl="0" marL="0" marR="0" rtl="0" algn="l">
              <a:lnSpc>
                <a:spcPct val="100000"/>
              </a:lnSpc>
              <a:spcBef>
                <a:spcPts val="0"/>
              </a:spcBef>
              <a:spcAft>
                <a:spcPts val="0"/>
              </a:spcAft>
              <a:buClr>
                <a:srgbClr val="000000"/>
              </a:buClr>
              <a:buSzPts val="1000"/>
              <a:buFont typeface="Arial"/>
              <a:buNone/>
            </a:pPr>
            <a:r>
              <a:t/>
            </a:r>
            <a:endParaRPr sz="1000">
              <a:solidFill>
                <a:schemeClr val="dk2"/>
              </a:solidFill>
            </a:endParaRPr>
          </a:p>
          <a:p>
            <a:pPr indent="-292100" lvl="0" marL="457200" marR="0" rtl="0" algn="l">
              <a:lnSpc>
                <a:spcPct val="100000"/>
              </a:lnSpc>
              <a:spcBef>
                <a:spcPts val="0"/>
              </a:spcBef>
              <a:spcAft>
                <a:spcPts val="0"/>
              </a:spcAft>
              <a:buClr>
                <a:schemeClr val="dk2"/>
              </a:buClr>
              <a:buSzPts val="1000"/>
              <a:buChar char="●"/>
            </a:pPr>
            <a:r>
              <a:rPr lang="es-419" sz="1000" u="sng">
                <a:solidFill>
                  <a:schemeClr val="dk2"/>
                </a:solidFill>
              </a:rPr>
              <a:t>Mejora en el posicionamiento en motores de búsqueda:</a:t>
            </a:r>
            <a:r>
              <a:rPr lang="es-419" sz="1000">
                <a:solidFill>
                  <a:schemeClr val="dk2"/>
                </a:solidFill>
              </a:rPr>
              <a:t> Un servicio de SEO competente puede optimizar tu sitio web para que aparezca en las primeras posiciones de los resultados de búsqueda para palabras clave relevantes. Esto incrementa la visibilidad de tu sitio web y atrae tráfico orgánico cualificado.</a:t>
            </a:r>
            <a:endParaRPr sz="1000">
              <a:solidFill>
                <a:schemeClr val="dk2"/>
              </a:solidFill>
            </a:endParaRPr>
          </a:p>
          <a:p>
            <a:pPr indent="-292100" lvl="0" marL="457200" marR="0" rtl="0" algn="l">
              <a:lnSpc>
                <a:spcPct val="100000"/>
              </a:lnSpc>
              <a:spcBef>
                <a:spcPts val="0"/>
              </a:spcBef>
              <a:spcAft>
                <a:spcPts val="0"/>
              </a:spcAft>
              <a:buClr>
                <a:schemeClr val="dk2"/>
              </a:buClr>
              <a:buSzPts val="1000"/>
              <a:buChar char="●"/>
            </a:pPr>
            <a:r>
              <a:rPr lang="es-419" sz="1000" u="sng">
                <a:solidFill>
                  <a:schemeClr val="dk2"/>
                </a:solidFill>
              </a:rPr>
              <a:t>Incremento del tráfico orgánico:</a:t>
            </a:r>
            <a:r>
              <a:rPr lang="es-419" sz="1000">
                <a:solidFill>
                  <a:schemeClr val="dk2"/>
                </a:solidFill>
              </a:rPr>
              <a:t> Al mejorar el posicionamiento en los motores de búsqueda, más usuarios que buscan activamente productos, servicios o información relacionada con tu negocio encontrarán tu sitio web, lo que resulta en un aumento del tráfico orgánico.</a:t>
            </a:r>
            <a:endParaRPr sz="1000">
              <a:solidFill>
                <a:schemeClr val="dk2"/>
              </a:solidFill>
            </a:endParaRPr>
          </a:p>
          <a:p>
            <a:pPr indent="-292100" lvl="0" marL="457200" marR="0" rtl="0" algn="l">
              <a:lnSpc>
                <a:spcPct val="100000"/>
              </a:lnSpc>
              <a:spcBef>
                <a:spcPts val="0"/>
              </a:spcBef>
              <a:spcAft>
                <a:spcPts val="0"/>
              </a:spcAft>
              <a:buClr>
                <a:schemeClr val="dk2"/>
              </a:buClr>
              <a:buSzPts val="1000"/>
              <a:buChar char="●"/>
            </a:pPr>
            <a:r>
              <a:rPr lang="es-419" sz="1000" u="sng">
                <a:solidFill>
                  <a:schemeClr val="dk2"/>
                </a:solidFill>
              </a:rPr>
              <a:t>Mejora de la experiencia del usuario:</a:t>
            </a:r>
            <a:r>
              <a:rPr lang="es-419" sz="1000">
                <a:solidFill>
                  <a:schemeClr val="dk2"/>
                </a:solidFill>
              </a:rPr>
              <a:t> Los servicios de SEO no solo se enfocan en los motores de búsqueda, sino también en mejorar la experiencia del usuario en tu sitio web. Esto incluye la velocidad de carga, la facilidad de navegación, la calidad del contenido, y la adaptabilidad a dispositivos móviles, factores que son cruciales para retener a los visitantes y convertirlos en clientes.</a:t>
            </a:r>
            <a:endParaRPr sz="1000">
              <a:solidFill>
                <a:schemeClr val="dk2"/>
              </a:solidFill>
            </a:endParaRPr>
          </a:p>
          <a:p>
            <a:pPr indent="-292100" lvl="0" marL="457200" marR="0" rtl="0" algn="l">
              <a:lnSpc>
                <a:spcPct val="100000"/>
              </a:lnSpc>
              <a:spcBef>
                <a:spcPts val="0"/>
              </a:spcBef>
              <a:spcAft>
                <a:spcPts val="0"/>
              </a:spcAft>
              <a:buClr>
                <a:schemeClr val="dk2"/>
              </a:buClr>
              <a:buSzPts val="1000"/>
              <a:buChar char="●"/>
            </a:pPr>
            <a:r>
              <a:rPr lang="es-419" sz="1000" u="sng">
                <a:solidFill>
                  <a:schemeClr val="dk2"/>
                </a:solidFill>
              </a:rPr>
              <a:t>Mayor tasa de conversión:</a:t>
            </a:r>
            <a:r>
              <a:rPr lang="es-419" sz="1000">
                <a:solidFill>
                  <a:schemeClr val="dk2"/>
                </a:solidFill>
              </a:rPr>
              <a:t> Al atraer tráfico más relevante y mejorar la experiencia del usuario, es más probable que los visitantes realicen las acciones deseadas en tu sitio web, ya sea realizar una compra, suscribirse a un boletín informativo, o llenar un formulario de contacto.</a:t>
            </a:r>
            <a:endParaRPr sz="1000">
              <a:solidFill>
                <a:schemeClr val="dk2"/>
              </a:solidFill>
            </a:endParaRPr>
          </a:p>
          <a:p>
            <a:pPr indent="-292100" lvl="0" marL="457200" marR="0" rtl="0" algn="l">
              <a:lnSpc>
                <a:spcPct val="100000"/>
              </a:lnSpc>
              <a:spcBef>
                <a:spcPts val="0"/>
              </a:spcBef>
              <a:spcAft>
                <a:spcPts val="0"/>
              </a:spcAft>
              <a:buClr>
                <a:schemeClr val="dk2"/>
              </a:buClr>
              <a:buSzPts val="1000"/>
              <a:buChar char="●"/>
            </a:pPr>
            <a:r>
              <a:rPr lang="es-419" sz="1000" u="sng">
                <a:solidFill>
                  <a:schemeClr val="dk2"/>
                </a:solidFill>
              </a:rPr>
              <a:t>Construcción de la autoridad de la marca:</a:t>
            </a:r>
            <a:r>
              <a:rPr lang="es-419" sz="1000">
                <a:solidFill>
                  <a:schemeClr val="dk2"/>
                </a:solidFill>
              </a:rPr>
              <a:t> Un buen servicio de SEO puede ayudar a construir y mejorar la autoridad de tu marca en línea. Aparecer en las primeras posiciones para búsquedas relevantes no solo incrementa la visibilidad, sino que también genera confianza entre los usuarios, ya que los motores de búsqueda son vistos como evaluadores de la relevancia y calidad de los sitios web.</a:t>
            </a:r>
            <a:endParaRPr sz="1000">
              <a:solidFill>
                <a:schemeClr val="dk2"/>
              </a:solidFill>
            </a:endParaRPr>
          </a:p>
          <a:p>
            <a:pPr indent="-292100" lvl="0" marL="457200" marR="0" rtl="0" algn="l">
              <a:lnSpc>
                <a:spcPct val="100000"/>
              </a:lnSpc>
              <a:spcBef>
                <a:spcPts val="0"/>
              </a:spcBef>
              <a:spcAft>
                <a:spcPts val="0"/>
              </a:spcAft>
              <a:buClr>
                <a:schemeClr val="dk2"/>
              </a:buClr>
              <a:buSzPts val="1000"/>
              <a:buChar char="●"/>
            </a:pPr>
            <a:r>
              <a:rPr lang="es-419" sz="1000" u="sng">
                <a:solidFill>
                  <a:schemeClr val="dk2"/>
                </a:solidFill>
              </a:rPr>
              <a:t>Ventaja competitiva:</a:t>
            </a:r>
            <a:r>
              <a:rPr lang="es-419" sz="1000">
                <a:solidFill>
                  <a:schemeClr val="dk2"/>
                </a:solidFill>
              </a:rPr>
              <a:t> Estar bien posicionado en los motores de búsqueda te da una ventaja competitiva sobre otros negocios en tu sector que no invierten en SEO o no lo hacen de manera efectiva. Esto puede resultar en una mayor cuota de mercado y reconocimiento de marca.</a:t>
            </a:r>
            <a:endParaRPr sz="1000">
              <a:solidFill>
                <a:schemeClr val="dk2"/>
              </a:solidFill>
            </a:endParaRPr>
          </a:p>
          <a:p>
            <a:pPr indent="-292100" lvl="0" marL="457200" marR="0" rtl="0" algn="l">
              <a:lnSpc>
                <a:spcPct val="100000"/>
              </a:lnSpc>
              <a:spcBef>
                <a:spcPts val="0"/>
              </a:spcBef>
              <a:spcAft>
                <a:spcPts val="0"/>
              </a:spcAft>
              <a:buClr>
                <a:schemeClr val="dk2"/>
              </a:buClr>
              <a:buSzPts val="1000"/>
              <a:buChar char="●"/>
            </a:pPr>
            <a:r>
              <a:rPr lang="es-419" sz="1000" u="sng">
                <a:solidFill>
                  <a:schemeClr val="dk2"/>
                </a:solidFill>
              </a:rPr>
              <a:t>Resultados medibles:</a:t>
            </a:r>
            <a:r>
              <a:rPr lang="es-419" sz="1000">
                <a:solidFill>
                  <a:schemeClr val="dk2"/>
                </a:solidFill>
              </a:rPr>
              <a:t> A diferencia de algunas formas de publicidad tradicional, el SEO ofrece resultados medibles. Puedes utilizar herramientas como Google Analytics para rastrear el tráfico, la tasa de conversión, el tiempo de permanencia en el sitio, y muchas otras métricas relevantes. Esto te permite ajustar tus estrategias de manera informada para obtener mejores resultados.</a:t>
            </a:r>
            <a:endParaRPr sz="1000">
              <a:solidFill>
                <a:schemeClr val="dk2"/>
              </a:solidFill>
            </a:endParaRPr>
          </a:p>
          <a:p>
            <a:pPr indent="0" lvl="0" marL="0" marR="0" rtl="0" algn="l">
              <a:lnSpc>
                <a:spcPct val="100000"/>
              </a:lnSpc>
              <a:spcBef>
                <a:spcPts val="0"/>
              </a:spcBef>
              <a:spcAft>
                <a:spcPts val="0"/>
              </a:spcAft>
              <a:buNone/>
            </a:pPr>
            <a:r>
              <a:t/>
            </a:r>
            <a:endParaRPr sz="1000">
              <a:solidFill>
                <a:schemeClr val="dk2"/>
              </a:solidFill>
            </a:endParaRPr>
          </a:p>
          <a:p>
            <a:pPr indent="0" lvl="0" marL="0" marR="0" rtl="0" algn="l">
              <a:lnSpc>
                <a:spcPct val="100000"/>
              </a:lnSpc>
              <a:spcBef>
                <a:spcPts val="0"/>
              </a:spcBef>
              <a:spcAft>
                <a:spcPts val="0"/>
              </a:spcAft>
              <a:buClr>
                <a:srgbClr val="000000"/>
              </a:buClr>
              <a:buSzPts val="1000"/>
              <a:buFont typeface="Arial"/>
              <a:buNone/>
            </a:pPr>
            <a:r>
              <a:rPr lang="es-419" sz="1000">
                <a:solidFill>
                  <a:schemeClr val="dk2"/>
                </a:solidFill>
              </a:rPr>
              <a:t>Contratar un servicio de SEO profesional puede ser un elemento transformador para tu negocio en línea, ayudándote a alcanzar tus objetivos de crecimiento al mejorar la visibilidad, el tráfico, y la interacción con tu sitio web.</a:t>
            </a:r>
            <a:endParaRPr sz="10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3"/>
          <p:cNvSpPr txBox="1"/>
          <p:nvPr/>
        </p:nvSpPr>
        <p:spPr>
          <a:xfrm>
            <a:off x="421350" y="341450"/>
            <a:ext cx="5196300" cy="4395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s-419" u="none" cap="none" strike="noStrike">
                <a:solidFill>
                  <a:schemeClr val="dk2"/>
                </a:solidFill>
              </a:rPr>
              <a:t>¿Cuales son los pasos para cumplimentar este servicio?</a:t>
            </a:r>
            <a:endParaRPr b="1">
              <a:solidFill>
                <a:schemeClr val="dk2"/>
              </a:solidFill>
            </a:endParaRPr>
          </a:p>
          <a:p>
            <a:pPr indent="0" lvl="0" marL="0" marR="0" rtl="0" algn="l">
              <a:lnSpc>
                <a:spcPct val="100000"/>
              </a:lnSpc>
              <a:spcBef>
                <a:spcPts val="0"/>
              </a:spcBef>
              <a:spcAft>
                <a:spcPts val="0"/>
              </a:spcAft>
              <a:buClr>
                <a:srgbClr val="000000"/>
              </a:buClr>
              <a:buSzPts val="1000"/>
              <a:buFont typeface="Arial"/>
              <a:buNone/>
            </a:pPr>
            <a:r>
              <a:t/>
            </a:r>
            <a:endParaRPr sz="1000">
              <a:solidFill>
                <a:schemeClr val="dk2"/>
              </a:solidFill>
            </a:endParaRPr>
          </a:p>
          <a:p>
            <a:pPr indent="0" lvl="0" marL="0" marR="0" rtl="0" algn="l">
              <a:lnSpc>
                <a:spcPct val="100000"/>
              </a:lnSpc>
              <a:spcBef>
                <a:spcPts val="0"/>
              </a:spcBef>
              <a:spcAft>
                <a:spcPts val="0"/>
              </a:spcAft>
              <a:buClr>
                <a:srgbClr val="000000"/>
              </a:buClr>
              <a:buSzPts val="1000"/>
              <a:buFont typeface="Arial"/>
              <a:buNone/>
            </a:pPr>
            <a:r>
              <a:t/>
            </a:r>
            <a:endParaRPr sz="1000">
              <a:solidFill>
                <a:schemeClr val="dk2"/>
              </a:solidFill>
            </a:endParaRPr>
          </a:p>
          <a:p>
            <a:pPr indent="0" lvl="0" marL="0" marR="0" rtl="0" algn="l">
              <a:lnSpc>
                <a:spcPct val="100000"/>
              </a:lnSpc>
              <a:spcBef>
                <a:spcPts val="0"/>
              </a:spcBef>
              <a:spcAft>
                <a:spcPts val="0"/>
              </a:spcAft>
              <a:buClr>
                <a:srgbClr val="000000"/>
              </a:buClr>
              <a:buSzPts val="1000"/>
              <a:buFont typeface="Arial"/>
              <a:buNone/>
            </a:pPr>
            <a:r>
              <a:t/>
            </a:r>
            <a:endParaRPr sz="1000">
              <a:solidFill>
                <a:schemeClr val="dk2"/>
              </a:solidFill>
            </a:endParaRPr>
          </a:p>
          <a:p>
            <a:pPr indent="0" lvl="0" marL="0" marR="0" rtl="0" algn="l">
              <a:lnSpc>
                <a:spcPct val="100000"/>
              </a:lnSpc>
              <a:spcBef>
                <a:spcPts val="0"/>
              </a:spcBef>
              <a:spcAft>
                <a:spcPts val="0"/>
              </a:spcAft>
              <a:buClr>
                <a:srgbClr val="000000"/>
              </a:buClr>
              <a:buSzPts val="1000"/>
              <a:buFont typeface="Arial"/>
              <a:buNone/>
            </a:pPr>
            <a:r>
              <a:t/>
            </a:r>
            <a:endParaRPr sz="1000">
              <a:solidFill>
                <a:schemeClr val="dk2"/>
              </a:solidFill>
            </a:endParaRPr>
          </a:p>
          <a:p>
            <a:pPr indent="0" lvl="0" marL="0" marR="0" rtl="0" algn="l">
              <a:lnSpc>
                <a:spcPct val="100000"/>
              </a:lnSpc>
              <a:spcBef>
                <a:spcPts val="0"/>
              </a:spcBef>
              <a:spcAft>
                <a:spcPts val="0"/>
              </a:spcAft>
              <a:buClr>
                <a:srgbClr val="000000"/>
              </a:buClr>
              <a:buSzPts val="1000"/>
              <a:buFont typeface="Arial"/>
              <a:buNone/>
            </a:pPr>
            <a:r>
              <a:t/>
            </a:r>
            <a:endParaRPr sz="1000">
              <a:solidFill>
                <a:schemeClr val="dk2"/>
              </a:solidFill>
            </a:endParaRPr>
          </a:p>
          <a:p>
            <a:pPr indent="0" lvl="0" marL="0" marR="0" rtl="0" algn="l">
              <a:lnSpc>
                <a:spcPct val="100000"/>
              </a:lnSpc>
              <a:spcBef>
                <a:spcPts val="0"/>
              </a:spcBef>
              <a:spcAft>
                <a:spcPts val="0"/>
              </a:spcAft>
              <a:buClr>
                <a:srgbClr val="000000"/>
              </a:buClr>
              <a:buSzPts val="1000"/>
              <a:buFont typeface="Arial"/>
              <a:buNone/>
            </a:pPr>
            <a:r>
              <a:t/>
            </a:r>
            <a:endParaRPr sz="1000">
              <a:solidFill>
                <a:schemeClr val="dk2"/>
              </a:solidFill>
            </a:endParaRPr>
          </a:p>
          <a:p>
            <a:pPr indent="0" lvl="0" marL="0" marR="0" rtl="0" algn="l">
              <a:lnSpc>
                <a:spcPct val="100000"/>
              </a:lnSpc>
              <a:spcBef>
                <a:spcPts val="0"/>
              </a:spcBef>
              <a:spcAft>
                <a:spcPts val="0"/>
              </a:spcAft>
              <a:buClr>
                <a:srgbClr val="000000"/>
              </a:buClr>
              <a:buSzPts val="1000"/>
              <a:buFont typeface="Arial"/>
              <a:buNone/>
            </a:pPr>
            <a:r>
              <a:t/>
            </a:r>
            <a:endParaRPr sz="1000">
              <a:solidFill>
                <a:schemeClr val="dk2"/>
              </a:solidFill>
            </a:endParaRPr>
          </a:p>
          <a:p>
            <a:pPr indent="0" lvl="0" marL="0" marR="0" rtl="0" algn="l">
              <a:lnSpc>
                <a:spcPct val="100000"/>
              </a:lnSpc>
              <a:spcBef>
                <a:spcPts val="0"/>
              </a:spcBef>
              <a:spcAft>
                <a:spcPts val="0"/>
              </a:spcAft>
              <a:buClr>
                <a:srgbClr val="000000"/>
              </a:buClr>
              <a:buSzPts val="1000"/>
              <a:buFont typeface="Arial"/>
              <a:buNone/>
            </a:pPr>
            <a:r>
              <a:t/>
            </a:r>
            <a:endParaRPr sz="1000">
              <a:solidFill>
                <a:schemeClr val="dk2"/>
              </a:solidFill>
            </a:endParaRPr>
          </a:p>
          <a:p>
            <a:pPr indent="0" lvl="0" marL="0" marR="0" rtl="0" algn="l">
              <a:lnSpc>
                <a:spcPct val="100000"/>
              </a:lnSpc>
              <a:spcBef>
                <a:spcPts val="0"/>
              </a:spcBef>
              <a:spcAft>
                <a:spcPts val="0"/>
              </a:spcAft>
              <a:buClr>
                <a:srgbClr val="000000"/>
              </a:buClr>
              <a:buSzPts val="1000"/>
              <a:buFont typeface="Arial"/>
              <a:buNone/>
            </a:pPr>
            <a:r>
              <a:t/>
            </a:r>
            <a:endParaRPr sz="1000">
              <a:solidFill>
                <a:schemeClr val="dk2"/>
              </a:solidFill>
            </a:endParaRPr>
          </a:p>
          <a:p>
            <a:pPr indent="0" lvl="0" marL="0" marR="0" rtl="0" algn="l">
              <a:lnSpc>
                <a:spcPct val="100000"/>
              </a:lnSpc>
              <a:spcBef>
                <a:spcPts val="0"/>
              </a:spcBef>
              <a:spcAft>
                <a:spcPts val="0"/>
              </a:spcAft>
              <a:buClr>
                <a:srgbClr val="000000"/>
              </a:buClr>
              <a:buSzPts val="1000"/>
              <a:buFont typeface="Arial"/>
              <a:buNone/>
            </a:pPr>
            <a:r>
              <a:t/>
            </a:r>
            <a:endParaRPr sz="1000">
              <a:solidFill>
                <a:schemeClr val="dk2"/>
              </a:solidFill>
            </a:endParaRPr>
          </a:p>
          <a:p>
            <a:pPr indent="0" lvl="0" marL="0" marR="0" rtl="0" algn="l">
              <a:lnSpc>
                <a:spcPct val="100000"/>
              </a:lnSpc>
              <a:spcBef>
                <a:spcPts val="0"/>
              </a:spcBef>
              <a:spcAft>
                <a:spcPts val="0"/>
              </a:spcAft>
              <a:buClr>
                <a:srgbClr val="000000"/>
              </a:buClr>
              <a:buSzPts val="1000"/>
              <a:buFont typeface="Arial"/>
              <a:buNone/>
            </a:pPr>
            <a:r>
              <a:t/>
            </a:r>
            <a:endParaRPr sz="1000">
              <a:solidFill>
                <a:schemeClr val="dk2"/>
              </a:solidFill>
            </a:endParaRPr>
          </a:p>
          <a:p>
            <a:pPr indent="0" lvl="0" marL="0" marR="0" rtl="0" algn="l">
              <a:lnSpc>
                <a:spcPct val="100000"/>
              </a:lnSpc>
              <a:spcBef>
                <a:spcPts val="0"/>
              </a:spcBef>
              <a:spcAft>
                <a:spcPts val="0"/>
              </a:spcAft>
              <a:buClr>
                <a:srgbClr val="000000"/>
              </a:buClr>
              <a:buSzPts val="1000"/>
              <a:buFont typeface="Arial"/>
              <a:buNone/>
            </a:pPr>
            <a:r>
              <a:t/>
            </a:r>
            <a:endParaRPr sz="1000">
              <a:solidFill>
                <a:schemeClr val="dk2"/>
              </a:solidFill>
            </a:endParaRPr>
          </a:p>
          <a:p>
            <a:pPr indent="0" lvl="0" marL="0" marR="0" rtl="0" algn="l">
              <a:lnSpc>
                <a:spcPct val="100000"/>
              </a:lnSpc>
              <a:spcBef>
                <a:spcPts val="0"/>
              </a:spcBef>
              <a:spcAft>
                <a:spcPts val="0"/>
              </a:spcAft>
              <a:buClr>
                <a:srgbClr val="000000"/>
              </a:buClr>
              <a:buSzPts val="1000"/>
              <a:buFont typeface="Arial"/>
              <a:buNone/>
            </a:pPr>
            <a:r>
              <a:t/>
            </a:r>
            <a:endParaRPr sz="1000">
              <a:solidFill>
                <a:schemeClr val="dk2"/>
              </a:solidFill>
            </a:endParaRPr>
          </a:p>
          <a:p>
            <a:pPr indent="0" lvl="0" marL="0" marR="0" rtl="0" algn="l">
              <a:lnSpc>
                <a:spcPct val="100000"/>
              </a:lnSpc>
              <a:spcBef>
                <a:spcPts val="0"/>
              </a:spcBef>
              <a:spcAft>
                <a:spcPts val="0"/>
              </a:spcAft>
              <a:buClr>
                <a:srgbClr val="000000"/>
              </a:buClr>
              <a:buSzPts val="1000"/>
              <a:buFont typeface="Arial"/>
              <a:buNone/>
            </a:pPr>
            <a:r>
              <a:t/>
            </a:r>
            <a:endParaRPr sz="1000">
              <a:solidFill>
                <a:schemeClr val="dk2"/>
              </a:solidFill>
            </a:endParaRPr>
          </a:p>
          <a:p>
            <a:pPr indent="0" lvl="0" marL="0" marR="0" rtl="0" algn="l">
              <a:lnSpc>
                <a:spcPct val="100000"/>
              </a:lnSpc>
              <a:spcBef>
                <a:spcPts val="0"/>
              </a:spcBef>
              <a:spcAft>
                <a:spcPts val="0"/>
              </a:spcAft>
              <a:buClr>
                <a:srgbClr val="000000"/>
              </a:buClr>
              <a:buSzPts val="1000"/>
              <a:buFont typeface="Arial"/>
              <a:buNone/>
            </a:pPr>
            <a:r>
              <a:t/>
            </a:r>
            <a:endParaRPr sz="1000">
              <a:solidFill>
                <a:schemeClr val="dk2"/>
              </a:solidFill>
            </a:endParaRPr>
          </a:p>
          <a:p>
            <a:pPr indent="0" lvl="0" marL="0" marR="0" rtl="0" algn="l">
              <a:lnSpc>
                <a:spcPct val="100000"/>
              </a:lnSpc>
              <a:spcBef>
                <a:spcPts val="0"/>
              </a:spcBef>
              <a:spcAft>
                <a:spcPts val="0"/>
              </a:spcAft>
              <a:buClr>
                <a:srgbClr val="000000"/>
              </a:buClr>
              <a:buSzPts val="1000"/>
              <a:buFont typeface="Arial"/>
              <a:buNone/>
            </a:pPr>
            <a:r>
              <a:t/>
            </a:r>
            <a:endParaRPr sz="1000">
              <a:solidFill>
                <a:schemeClr val="dk2"/>
              </a:solidFill>
            </a:endParaRPr>
          </a:p>
          <a:p>
            <a:pPr indent="0" lvl="0" marL="0" marR="0" rtl="0" algn="l">
              <a:lnSpc>
                <a:spcPct val="100000"/>
              </a:lnSpc>
              <a:spcBef>
                <a:spcPts val="0"/>
              </a:spcBef>
              <a:spcAft>
                <a:spcPts val="0"/>
              </a:spcAft>
              <a:buClr>
                <a:srgbClr val="000000"/>
              </a:buClr>
              <a:buSzPts val="1000"/>
              <a:buFont typeface="Arial"/>
              <a:buNone/>
            </a:pPr>
            <a:r>
              <a:t/>
            </a:r>
            <a:endParaRPr sz="1000">
              <a:solidFill>
                <a:schemeClr val="dk2"/>
              </a:solidFill>
            </a:endParaRPr>
          </a:p>
          <a:p>
            <a:pPr indent="0" lvl="0" marL="0" marR="0" rtl="0" algn="l">
              <a:lnSpc>
                <a:spcPct val="100000"/>
              </a:lnSpc>
              <a:spcBef>
                <a:spcPts val="0"/>
              </a:spcBef>
              <a:spcAft>
                <a:spcPts val="0"/>
              </a:spcAft>
              <a:buClr>
                <a:srgbClr val="000000"/>
              </a:buClr>
              <a:buSzPts val="1000"/>
              <a:buFont typeface="Arial"/>
              <a:buNone/>
            </a:pPr>
            <a:r>
              <a:t/>
            </a:r>
            <a:endParaRPr sz="1000">
              <a:solidFill>
                <a:schemeClr val="dk2"/>
              </a:solidFill>
            </a:endParaRPr>
          </a:p>
          <a:p>
            <a:pPr indent="0" lvl="0" marL="0" marR="0" rtl="0" algn="l">
              <a:lnSpc>
                <a:spcPct val="100000"/>
              </a:lnSpc>
              <a:spcBef>
                <a:spcPts val="0"/>
              </a:spcBef>
              <a:spcAft>
                <a:spcPts val="0"/>
              </a:spcAft>
              <a:buClr>
                <a:srgbClr val="000000"/>
              </a:buClr>
              <a:buSzPts val="1000"/>
              <a:buFont typeface="Arial"/>
              <a:buNone/>
            </a:pPr>
            <a:r>
              <a:t/>
            </a:r>
            <a:endParaRPr sz="1000">
              <a:solidFill>
                <a:schemeClr val="dk2"/>
              </a:solidFill>
            </a:endParaRPr>
          </a:p>
          <a:p>
            <a:pPr indent="0" lvl="0" marL="0" marR="0" rtl="0" algn="l">
              <a:lnSpc>
                <a:spcPct val="100000"/>
              </a:lnSpc>
              <a:spcBef>
                <a:spcPts val="0"/>
              </a:spcBef>
              <a:spcAft>
                <a:spcPts val="0"/>
              </a:spcAft>
              <a:buClr>
                <a:srgbClr val="000000"/>
              </a:buClr>
              <a:buSzPts val="1000"/>
              <a:buFont typeface="Arial"/>
              <a:buNone/>
            </a:pPr>
            <a:r>
              <a:t/>
            </a:r>
            <a:endParaRPr sz="1000">
              <a:solidFill>
                <a:schemeClr val="dk2"/>
              </a:solidFill>
            </a:endParaRPr>
          </a:p>
          <a:p>
            <a:pPr indent="0" lvl="0" marL="0" marR="0" rtl="0" algn="l">
              <a:lnSpc>
                <a:spcPct val="100000"/>
              </a:lnSpc>
              <a:spcBef>
                <a:spcPts val="0"/>
              </a:spcBef>
              <a:spcAft>
                <a:spcPts val="0"/>
              </a:spcAft>
              <a:buClr>
                <a:srgbClr val="000000"/>
              </a:buClr>
              <a:buSzPts val="1000"/>
              <a:buFont typeface="Arial"/>
              <a:buNone/>
            </a:pPr>
            <a:r>
              <a:t/>
            </a:r>
            <a:endParaRPr sz="1000">
              <a:solidFill>
                <a:schemeClr val="dk2"/>
              </a:solidFill>
            </a:endParaRPr>
          </a:p>
          <a:p>
            <a:pPr indent="0" lvl="0" marL="0" marR="0" rtl="0" algn="l">
              <a:lnSpc>
                <a:spcPct val="100000"/>
              </a:lnSpc>
              <a:spcBef>
                <a:spcPts val="0"/>
              </a:spcBef>
              <a:spcAft>
                <a:spcPts val="0"/>
              </a:spcAft>
              <a:buClr>
                <a:srgbClr val="000000"/>
              </a:buClr>
              <a:buSzPts val="1000"/>
              <a:buFont typeface="Arial"/>
              <a:buNone/>
            </a:pPr>
            <a:r>
              <a:t/>
            </a:r>
            <a:endParaRPr sz="1000">
              <a:solidFill>
                <a:schemeClr val="dk2"/>
              </a:solidFill>
            </a:endParaRPr>
          </a:p>
          <a:p>
            <a:pPr indent="0" lvl="0" marL="0" marR="0" rtl="0" algn="l">
              <a:lnSpc>
                <a:spcPct val="100000"/>
              </a:lnSpc>
              <a:spcBef>
                <a:spcPts val="0"/>
              </a:spcBef>
              <a:spcAft>
                <a:spcPts val="0"/>
              </a:spcAft>
              <a:buClr>
                <a:srgbClr val="000000"/>
              </a:buClr>
              <a:buSzPts val="1000"/>
              <a:buFont typeface="Arial"/>
              <a:buNone/>
            </a:pPr>
            <a:r>
              <a:rPr lang="es-419" sz="1000">
                <a:solidFill>
                  <a:schemeClr val="dk2"/>
                </a:solidFill>
              </a:rPr>
              <a:t>Requisitos:</a:t>
            </a:r>
            <a:endParaRPr sz="1000">
              <a:solidFill>
                <a:schemeClr val="dk2"/>
              </a:solidFill>
            </a:endParaRPr>
          </a:p>
          <a:p>
            <a:pPr indent="-292100" lvl="0" marL="457200" marR="0" rtl="0" algn="l">
              <a:lnSpc>
                <a:spcPct val="100000"/>
              </a:lnSpc>
              <a:spcBef>
                <a:spcPts val="0"/>
              </a:spcBef>
              <a:spcAft>
                <a:spcPts val="0"/>
              </a:spcAft>
              <a:buClr>
                <a:schemeClr val="dk2"/>
              </a:buClr>
              <a:buSzPts val="1000"/>
              <a:buFont typeface="Arial"/>
              <a:buChar char="-"/>
            </a:pPr>
            <a:r>
              <a:rPr lang="es-419" sz="1000">
                <a:solidFill>
                  <a:schemeClr val="dk2"/>
                </a:solidFill>
              </a:rPr>
              <a:t>Datos de acceso a WordPress</a:t>
            </a:r>
            <a:endParaRPr sz="1000">
              <a:solidFill>
                <a:schemeClr val="dk2"/>
              </a:solidFill>
            </a:endParaRPr>
          </a:p>
          <a:p>
            <a:pPr indent="-292100" lvl="0" marL="457200" marR="0" rtl="0" algn="l">
              <a:lnSpc>
                <a:spcPct val="100000"/>
              </a:lnSpc>
              <a:spcBef>
                <a:spcPts val="0"/>
              </a:spcBef>
              <a:spcAft>
                <a:spcPts val="0"/>
              </a:spcAft>
              <a:buClr>
                <a:schemeClr val="dk2"/>
              </a:buClr>
              <a:buSzPts val="1000"/>
              <a:buFont typeface="Arial"/>
              <a:buChar char="-"/>
            </a:pPr>
            <a:r>
              <a:rPr lang="es-419" sz="1000">
                <a:solidFill>
                  <a:schemeClr val="dk2"/>
                </a:solidFill>
              </a:rPr>
              <a:t>Datos de acceso a Google Search Console y Google Analytics</a:t>
            </a:r>
            <a:r>
              <a:rPr b="0" i="0" lang="es-419" sz="1000" u="none" cap="none" strike="noStrike">
                <a:solidFill>
                  <a:schemeClr val="dk2"/>
                </a:solidFill>
                <a:latin typeface="Arial"/>
                <a:ea typeface="Arial"/>
                <a:cs typeface="Arial"/>
                <a:sym typeface="Arial"/>
              </a:rPr>
              <a:t> </a:t>
            </a:r>
            <a:endParaRPr b="0" i="0" sz="1000" u="none" cap="none" strike="noStrike">
              <a:solidFill>
                <a:schemeClr val="dk2"/>
              </a:solidFill>
              <a:latin typeface="Arial"/>
              <a:ea typeface="Arial"/>
              <a:cs typeface="Arial"/>
              <a:sym typeface="Arial"/>
            </a:endParaRPr>
          </a:p>
        </p:txBody>
      </p:sp>
      <p:grpSp>
        <p:nvGrpSpPr>
          <p:cNvPr id="65" name="Google Shape;65;p3"/>
          <p:cNvGrpSpPr/>
          <p:nvPr/>
        </p:nvGrpSpPr>
        <p:grpSpPr>
          <a:xfrm>
            <a:off x="316163" y="929475"/>
            <a:ext cx="3558375" cy="924600"/>
            <a:chOff x="308838" y="1242975"/>
            <a:chExt cx="3558375" cy="924600"/>
          </a:xfrm>
        </p:grpSpPr>
        <p:cxnSp>
          <p:nvCxnSpPr>
            <p:cNvPr id="66" name="Google Shape;66;p3"/>
            <p:cNvCxnSpPr/>
            <p:nvPr/>
          </p:nvCxnSpPr>
          <p:spPr>
            <a:xfrm rot="10800000">
              <a:off x="2642013" y="1654113"/>
              <a:ext cx="1225200" cy="0"/>
            </a:xfrm>
            <a:prstGeom prst="straightConnector1">
              <a:avLst/>
            </a:prstGeom>
            <a:noFill/>
            <a:ln cap="flat" cmpd="sng" w="9525">
              <a:solidFill>
                <a:srgbClr val="249C91"/>
              </a:solidFill>
              <a:prstDash val="solid"/>
              <a:round/>
              <a:headEnd len="sm" w="sm" type="none"/>
              <a:tailEnd len="med" w="med" type="oval"/>
            </a:ln>
          </p:spPr>
        </p:cxnSp>
        <p:sp>
          <p:nvSpPr>
            <p:cNvPr id="67" name="Google Shape;67;p3"/>
            <p:cNvSpPr txBox="1"/>
            <p:nvPr/>
          </p:nvSpPr>
          <p:spPr>
            <a:xfrm>
              <a:off x="308838" y="1242975"/>
              <a:ext cx="2124000" cy="924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200"/>
                <a:buFont typeface="Arial"/>
                <a:buNone/>
              </a:pPr>
              <a:r>
                <a:rPr b="1" lang="es-419" sz="1200">
                  <a:latin typeface="Roboto"/>
                  <a:ea typeface="Roboto"/>
                  <a:cs typeface="Roboto"/>
                  <a:sym typeface="Roboto"/>
                </a:rPr>
                <a:t>Onboarding SEO</a:t>
              </a:r>
              <a:endParaRPr b="1" i="0" sz="1200" u="none" cap="none" strike="noStrike">
                <a:solidFill>
                  <a:srgbClr val="000000"/>
                </a:solidFill>
                <a:latin typeface="Roboto"/>
                <a:ea typeface="Roboto"/>
                <a:cs typeface="Roboto"/>
                <a:sym typeface="Roboto"/>
              </a:endParaRPr>
            </a:p>
            <a:p>
              <a:pPr indent="0" lvl="0" marL="0" marR="0" rtl="0" algn="r">
                <a:lnSpc>
                  <a:spcPct val="100000"/>
                </a:lnSpc>
                <a:spcBef>
                  <a:spcPts val="0"/>
                </a:spcBef>
                <a:spcAft>
                  <a:spcPts val="1600"/>
                </a:spcAft>
                <a:buClr>
                  <a:srgbClr val="000000"/>
                </a:buClr>
                <a:buSzPts val="800"/>
                <a:buFont typeface="Arial"/>
                <a:buNone/>
              </a:pPr>
              <a:r>
                <a:rPr lang="es-419" sz="800">
                  <a:latin typeface="Roboto"/>
                  <a:ea typeface="Roboto"/>
                  <a:cs typeface="Roboto"/>
                  <a:sym typeface="Roboto"/>
                </a:rPr>
                <a:t>Recopilación de información y análisis interno y externo del proyecto.</a:t>
              </a:r>
              <a:endParaRPr sz="800">
                <a:latin typeface="Roboto"/>
                <a:ea typeface="Roboto"/>
                <a:cs typeface="Roboto"/>
                <a:sym typeface="Roboto"/>
              </a:endParaRPr>
            </a:p>
          </p:txBody>
        </p:sp>
      </p:grpSp>
      <p:grpSp>
        <p:nvGrpSpPr>
          <p:cNvPr id="68" name="Google Shape;68;p3"/>
          <p:cNvGrpSpPr/>
          <p:nvPr/>
        </p:nvGrpSpPr>
        <p:grpSpPr>
          <a:xfrm>
            <a:off x="316163" y="2332625"/>
            <a:ext cx="3263100" cy="924600"/>
            <a:chOff x="308838" y="2646125"/>
            <a:chExt cx="3263100" cy="924600"/>
          </a:xfrm>
        </p:grpSpPr>
        <p:cxnSp>
          <p:nvCxnSpPr>
            <p:cNvPr id="69" name="Google Shape;69;p3"/>
            <p:cNvCxnSpPr/>
            <p:nvPr/>
          </p:nvCxnSpPr>
          <p:spPr>
            <a:xfrm rot="10800000">
              <a:off x="2641938" y="3108425"/>
              <a:ext cx="930000" cy="0"/>
            </a:xfrm>
            <a:prstGeom prst="straightConnector1">
              <a:avLst/>
            </a:prstGeom>
            <a:noFill/>
            <a:ln cap="flat" cmpd="sng" w="9525">
              <a:solidFill>
                <a:srgbClr val="1F887E"/>
              </a:solidFill>
              <a:prstDash val="solid"/>
              <a:round/>
              <a:headEnd len="sm" w="sm" type="none"/>
              <a:tailEnd len="med" w="med" type="oval"/>
            </a:ln>
          </p:spPr>
        </p:cxnSp>
        <p:sp>
          <p:nvSpPr>
            <p:cNvPr id="70" name="Google Shape;70;p3"/>
            <p:cNvSpPr txBox="1"/>
            <p:nvPr/>
          </p:nvSpPr>
          <p:spPr>
            <a:xfrm>
              <a:off x="308838" y="2646125"/>
              <a:ext cx="2124000" cy="9246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200"/>
                <a:buFont typeface="Arial"/>
                <a:buNone/>
              </a:pPr>
              <a:r>
                <a:rPr b="1" lang="es-419" sz="1200">
                  <a:latin typeface="Roboto"/>
                  <a:ea typeface="Roboto"/>
                  <a:cs typeface="Roboto"/>
                  <a:sym typeface="Roboto"/>
                </a:rPr>
                <a:t>Auditoría SEO</a:t>
              </a:r>
              <a:endParaRPr b="1" i="0" sz="1200" u="none" cap="none" strike="noStrike">
                <a:solidFill>
                  <a:srgbClr val="000000"/>
                </a:solidFill>
                <a:latin typeface="Roboto"/>
                <a:ea typeface="Roboto"/>
                <a:cs typeface="Roboto"/>
                <a:sym typeface="Roboto"/>
              </a:endParaRPr>
            </a:p>
            <a:p>
              <a:pPr indent="0" lvl="0" marL="0" marR="0" rtl="0" algn="r">
                <a:lnSpc>
                  <a:spcPct val="100000"/>
                </a:lnSpc>
                <a:spcBef>
                  <a:spcPts val="0"/>
                </a:spcBef>
                <a:spcAft>
                  <a:spcPts val="0"/>
                </a:spcAft>
                <a:buClr>
                  <a:srgbClr val="000000"/>
                </a:buClr>
                <a:buSzPts val="800"/>
                <a:buFont typeface="Arial"/>
                <a:buNone/>
              </a:pPr>
              <a:r>
                <a:t/>
              </a:r>
              <a:endParaRPr b="1" i="0" sz="800" u="none" cap="none" strike="noStrike">
                <a:solidFill>
                  <a:srgbClr val="000000"/>
                </a:solidFill>
                <a:latin typeface="Roboto"/>
                <a:ea typeface="Roboto"/>
                <a:cs typeface="Roboto"/>
                <a:sym typeface="Roboto"/>
              </a:endParaRPr>
            </a:p>
            <a:p>
              <a:pPr indent="0" lvl="0" marL="0" marR="0" rtl="0" algn="r">
                <a:lnSpc>
                  <a:spcPct val="100000"/>
                </a:lnSpc>
                <a:spcBef>
                  <a:spcPts val="0"/>
                </a:spcBef>
                <a:spcAft>
                  <a:spcPts val="1600"/>
                </a:spcAft>
                <a:buClr>
                  <a:srgbClr val="000000"/>
                </a:buClr>
                <a:buSzPts val="800"/>
                <a:buFont typeface="Arial"/>
                <a:buNone/>
              </a:pPr>
              <a:r>
                <a:rPr lang="es-419" sz="800">
                  <a:latin typeface="Roboto"/>
                  <a:ea typeface="Roboto"/>
                  <a:cs typeface="Roboto"/>
                  <a:sym typeface="Roboto"/>
                </a:rPr>
                <a:t>Análisis del sitio web para conocer el estado del proyecto </a:t>
              </a:r>
              <a:r>
                <a:rPr lang="es-419" sz="800" u="sng">
                  <a:latin typeface="Roboto"/>
                  <a:ea typeface="Roboto"/>
                  <a:cs typeface="Roboto"/>
                  <a:sym typeface="Roboto"/>
                </a:rPr>
                <a:t>antes</a:t>
              </a:r>
              <a:r>
                <a:rPr lang="es-419" sz="800">
                  <a:latin typeface="Roboto"/>
                  <a:ea typeface="Roboto"/>
                  <a:cs typeface="Roboto"/>
                  <a:sym typeface="Roboto"/>
                </a:rPr>
                <a:t> de comenzar con la optimización.</a:t>
              </a:r>
              <a:endParaRPr sz="800">
                <a:latin typeface="Roboto"/>
                <a:ea typeface="Roboto"/>
                <a:cs typeface="Roboto"/>
                <a:sym typeface="Roboto"/>
              </a:endParaRPr>
            </a:p>
          </p:txBody>
        </p:sp>
      </p:grpSp>
      <p:grpSp>
        <p:nvGrpSpPr>
          <p:cNvPr id="71" name="Google Shape;71;p3"/>
          <p:cNvGrpSpPr/>
          <p:nvPr/>
        </p:nvGrpSpPr>
        <p:grpSpPr>
          <a:xfrm>
            <a:off x="4665063" y="3078200"/>
            <a:ext cx="4162750" cy="924600"/>
            <a:chOff x="4657738" y="3391700"/>
            <a:chExt cx="4162750" cy="924600"/>
          </a:xfrm>
        </p:grpSpPr>
        <p:cxnSp>
          <p:nvCxnSpPr>
            <p:cNvPr id="72" name="Google Shape;72;p3"/>
            <p:cNvCxnSpPr/>
            <p:nvPr/>
          </p:nvCxnSpPr>
          <p:spPr>
            <a:xfrm>
              <a:off x="4657738" y="3854000"/>
              <a:ext cx="1838700" cy="0"/>
            </a:xfrm>
            <a:prstGeom prst="straightConnector1">
              <a:avLst/>
            </a:prstGeom>
            <a:noFill/>
            <a:ln cap="flat" cmpd="sng" w="9525">
              <a:solidFill>
                <a:srgbClr val="1D7E75"/>
              </a:solidFill>
              <a:prstDash val="solid"/>
              <a:round/>
              <a:headEnd len="sm" w="sm" type="none"/>
              <a:tailEnd len="med" w="med" type="oval"/>
            </a:ln>
          </p:spPr>
        </p:cxnSp>
        <p:sp>
          <p:nvSpPr>
            <p:cNvPr id="73" name="Google Shape;73;p3"/>
            <p:cNvSpPr txBox="1"/>
            <p:nvPr/>
          </p:nvSpPr>
          <p:spPr>
            <a:xfrm>
              <a:off x="6696488" y="3391700"/>
              <a:ext cx="2124000" cy="924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lang="es-419" sz="1200">
                  <a:latin typeface="Roboto"/>
                  <a:ea typeface="Roboto"/>
                  <a:cs typeface="Roboto"/>
                  <a:sym typeface="Roboto"/>
                </a:rPr>
                <a:t>Estrategia SEO</a:t>
              </a:r>
              <a:endParaRPr b="1"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800"/>
                <a:buFont typeface="Arial"/>
                <a:buNone/>
              </a:pPr>
              <a:r>
                <a:t/>
              </a:r>
              <a:endParaRPr b="1" i="0" sz="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1600"/>
                </a:spcAft>
                <a:buClr>
                  <a:srgbClr val="000000"/>
                </a:buClr>
                <a:buSzPts val="800"/>
                <a:buFont typeface="Arial"/>
                <a:buNone/>
              </a:pPr>
              <a:r>
                <a:rPr lang="es-419" sz="800">
                  <a:latin typeface="Roboto"/>
                  <a:ea typeface="Roboto"/>
                  <a:cs typeface="Roboto"/>
                  <a:sym typeface="Roboto"/>
                </a:rPr>
                <a:t>Planificación de un cronograma de contenido y estrategia de link building.</a:t>
              </a:r>
              <a:endParaRPr b="1" i="0" sz="800" u="none" cap="none" strike="noStrike">
                <a:solidFill>
                  <a:srgbClr val="000000"/>
                </a:solidFill>
                <a:latin typeface="Roboto"/>
                <a:ea typeface="Roboto"/>
                <a:cs typeface="Roboto"/>
                <a:sym typeface="Roboto"/>
              </a:endParaRPr>
            </a:p>
          </p:txBody>
        </p:sp>
      </p:grpSp>
      <p:grpSp>
        <p:nvGrpSpPr>
          <p:cNvPr id="74" name="Google Shape;74;p3"/>
          <p:cNvGrpSpPr/>
          <p:nvPr/>
        </p:nvGrpSpPr>
        <p:grpSpPr>
          <a:xfrm>
            <a:off x="5217163" y="929475"/>
            <a:ext cx="3610650" cy="924600"/>
            <a:chOff x="5209838" y="1242975"/>
            <a:chExt cx="3610650" cy="924600"/>
          </a:xfrm>
        </p:grpSpPr>
        <p:sp>
          <p:nvSpPr>
            <p:cNvPr id="75" name="Google Shape;75;p3"/>
            <p:cNvSpPr txBox="1"/>
            <p:nvPr/>
          </p:nvSpPr>
          <p:spPr>
            <a:xfrm>
              <a:off x="6696488" y="1242975"/>
              <a:ext cx="2124000" cy="924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lang="es-419" sz="1200">
                  <a:latin typeface="Roboto"/>
                  <a:ea typeface="Roboto"/>
                  <a:cs typeface="Roboto"/>
                  <a:sym typeface="Roboto"/>
                </a:rPr>
                <a:t>Recomendaciones SEO On-Page</a:t>
              </a:r>
              <a:endParaRPr b="1"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800"/>
                <a:buFont typeface="Arial"/>
                <a:buNone/>
              </a:pPr>
              <a:r>
                <a:t/>
              </a:r>
              <a:endParaRPr b="1" i="0" sz="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1600"/>
                </a:spcAft>
                <a:buClr>
                  <a:srgbClr val="000000"/>
                </a:buClr>
                <a:buSzPts val="800"/>
                <a:buFont typeface="Arial"/>
                <a:buNone/>
              </a:pPr>
              <a:r>
                <a:rPr lang="es-419" sz="800">
                  <a:latin typeface="Roboto"/>
                  <a:ea typeface="Roboto"/>
                  <a:cs typeface="Roboto"/>
                  <a:sym typeface="Roboto"/>
                </a:rPr>
                <a:t>Aplicación de recomendaciones de SEO On-Page en las páginas web del proyecto.</a:t>
              </a:r>
              <a:endParaRPr b="1" i="0" sz="800" u="none" cap="none" strike="noStrike">
                <a:solidFill>
                  <a:srgbClr val="000000"/>
                </a:solidFill>
                <a:latin typeface="Roboto"/>
                <a:ea typeface="Roboto"/>
                <a:cs typeface="Roboto"/>
                <a:sym typeface="Roboto"/>
              </a:endParaRPr>
            </a:p>
          </p:txBody>
        </p:sp>
        <p:cxnSp>
          <p:nvCxnSpPr>
            <p:cNvPr id="76" name="Google Shape;76;p3"/>
            <p:cNvCxnSpPr/>
            <p:nvPr/>
          </p:nvCxnSpPr>
          <p:spPr>
            <a:xfrm>
              <a:off x="5209838" y="1654113"/>
              <a:ext cx="1286700" cy="0"/>
            </a:xfrm>
            <a:prstGeom prst="straightConnector1">
              <a:avLst/>
            </a:prstGeom>
            <a:noFill/>
            <a:ln cap="flat" cmpd="sng" w="9525">
              <a:solidFill>
                <a:srgbClr val="155B55"/>
              </a:solidFill>
              <a:prstDash val="solid"/>
              <a:round/>
              <a:headEnd len="sm" w="sm" type="none"/>
              <a:tailEnd len="med" w="med" type="oval"/>
            </a:ln>
          </p:spPr>
        </p:cxnSp>
      </p:grpSp>
      <p:grpSp>
        <p:nvGrpSpPr>
          <p:cNvPr id="77" name="Google Shape;77;p3"/>
          <p:cNvGrpSpPr/>
          <p:nvPr/>
        </p:nvGrpSpPr>
        <p:grpSpPr>
          <a:xfrm>
            <a:off x="5617613" y="1999850"/>
            <a:ext cx="3210200" cy="924600"/>
            <a:chOff x="5610288" y="2313350"/>
            <a:chExt cx="3210200" cy="924600"/>
          </a:xfrm>
        </p:grpSpPr>
        <p:cxnSp>
          <p:nvCxnSpPr>
            <p:cNvPr id="78" name="Google Shape;78;p3"/>
            <p:cNvCxnSpPr/>
            <p:nvPr/>
          </p:nvCxnSpPr>
          <p:spPr>
            <a:xfrm>
              <a:off x="5610288" y="2775650"/>
              <a:ext cx="886200" cy="0"/>
            </a:xfrm>
            <a:prstGeom prst="straightConnector1">
              <a:avLst/>
            </a:prstGeom>
            <a:noFill/>
            <a:ln cap="flat" cmpd="sng" w="9525">
              <a:solidFill>
                <a:srgbClr val="1B786F"/>
              </a:solidFill>
              <a:prstDash val="solid"/>
              <a:round/>
              <a:headEnd len="sm" w="sm" type="none"/>
              <a:tailEnd len="med" w="med" type="oval"/>
            </a:ln>
          </p:spPr>
        </p:cxnSp>
        <p:sp>
          <p:nvSpPr>
            <p:cNvPr id="79" name="Google Shape;79;p3"/>
            <p:cNvSpPr txBox="1"/>
            <p:nvPr/>
          </p:nvSpPr>
          <p:spPr>
            <a:xfrm>
              <a:off x="6696488" y="2313350"/>
              <a:ext cx="2124000" cy="924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lang="es-419" sz="1200">
                  <a:latin typeface="Roboto"/>
                  <a:ea typeface="Roboto"/>
                  <a:cs typeface="Roboto"/>
                  <a:sym typeface="Roboto"/>
                </a:rPr>
                <a:t>Plan de acción SEO</a:t>
              </a:r>
              <a:endParaRPr b="1"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800"/>
                <a:buFont typeface="Arial"/>
                <a:buNone/>
              </a:pPr>
              <a:r>
                <a:t/>
              </a:r>
              <a:endParaRPr b="1" i="0" sz="8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1600"/>
                </a:spcAft>
                <a:buClr>
                  <a:srgbClr val="000000"/>
                </a:buClr>
                <a:buSzPts val="800"/>
                <a:buFont typeface="Arial"/>
                <a:buNone/>
              </a:pPr>
              <a:r>
                <a:rPr lang="es-419" sz="800">
                  <a:latin typeface="Roboto"/>
                  <a:ea typeface="Roboto"/>
                  <a:cs typeface="Roboto"/>
                  <a:sym typeface="Roboto"/>
                </a:rPr>
                <a:t>Puesta en marcha de acciones que beneficien el SEO del proyecto en todos sus aspectos (SEO On-Page, SEO Off-Page, SEO Local).</a:t>
              </a:r>
              <a:endParaRPr b="1" i="0" sz="800" u="none" cap="none" strike="noStrike">
                <a:solidFill>
                  <a:srgbClr val="000000"/>
                </a:solidFill>
                <a:latin typeface="Roboto"/>
                <a:ea typeface="Roboto"/>
                <a:cs typeface="Roboto"/>
                <a:sym typeface="Roboto"/>
              </a:endParaRPr>
            </a:p>
          </p:txBody>
        </p:sp>
      </p:grpSp>
      <p:grpSp>
        <p:nvGrpSpPr>
          <p:cNvPr id="80" name="Google Shape;80;p3"/>
          <p:cNvGrpSpPr/>
          <p:nvPr/>
        </p:nvGrpSpPr>
        <p:grpSpPr>
          <a:xfrm>
            <a:off x="2608562" y="341451"/>
            <a:ext cx="3922200" cy="3915924"/>
            <a:chOff x="2610906" y="610653"/>
            <a:chExt cx="3922200" cy="3922200"/>
          </a:xfrm>
        </p:grpSpPr>
        <p:sp>
          <p:nvSpPr>
            <p:cNvPr id="81" name="Google Shape;81;p3"/>
            <p:cNvSpPr/>
            <p:nvPr/>
          </p:nvSpPr>
          <p:spPr>
            <a:xfrm rot="-4980021">
              <a:off x="3204123" y="1186472"/>
              <a:ext cx="2771960" cy="2771960"/>
            </a:xfrm>
            <a:prstGeom prst="blockArc">
              <a:avLst>
                <a:gd fmla="val 12602522" name="adj1"/>
                <a:gd fmla="val 16867657" name="adj2"/>
                <a:gd fmla="val 20844" name="adj3"/>
              </a:avLst>
            </a:prstGeom>
            <a:solidFill>
              <a:srgbClr val="1F887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3"/>
            <p:cNvSpPr/>
            <p:nvPr/>
          </p:nvSpPr>
          <p:spPr>
            <a:xfrm rot="7920309">
              <a:off x="3183402" y="1183149"/>
              <a:ext cx="2777207" cy="2777207"/>
            </a:xfrm>
            <a:prstGeom prst="blockArc">
              <a:avLst>
                <a:gd fmla="val 12602522" name="adj1"/>
                <a:gd fmla="val 16867657" name="adj2"/>
                <a:gd fmla="val 20844" name="adj3"/>
              </a:avLst>
            </a:prstGeom>
            <a:solidFill>
              <a:srgbClr val="1B786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3"/>
            <p:cNvSpPr/>
            <p:nvPr/>
          </p:nvSpPr>
          <p:spPr>
            <a:xfrm rot="3600063">
              <a:off x="3186335" y="1195681"/>
              <a:ext cx="2777488" cy="2777488"/>
            </a:xfrm>
            <a:prstGeom prst="blockArc">
              <a:avLst>
                <a:gd fmla="val 12602522" name="adj1"/>
                <a:gd fmla="val 16867657" name="adj2"/>
                <a:gd fmla="val 20844" name="adj3"/>
              </a:avLst>
            </a:prstGeom>
            <a:solidFill>
              <a:srgbClr val="155B5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3"/>
            <p:cNvSpPr/>
            <p:nvPr/>
          </p:nvSpPr>
          <p:spPr>
            <a:xfrm rot="4024705">
              <a:off x="5326681" y="1940898"/>
              <a:ext cx="578477" cy="579147"/>
            </a:xfrm>
            <a:prstGeom prst="pie">
              <a:avLst>
                <a:gd fmla="val 6190354" name="adj1"/>
                <a:gd fmla="val 14996165" name="adj2"/>
              </a:avLst>
            </a:prstGeom>
            <a:solidFill>
              <a:srgbClr val="1B786F"/>
            </a:solidFill>
            <a:ln>
              <a:noFill/>
            </a:ln>
            <a:effectLst>
              <a:outerShdw blurRad="142875" rotWithShape="0" algn="bl">
                <a:srgbClr val="000000">
                  <a:alpha val="42745"/>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3"/>
            <p:cNvSpPr/>
            <p:nvPr/>
          </p:nvSpPr>
          <p:spPr>
            <a:xfrm rot="-6816027">
              <a:off x="5326729" y="1940918"/>
              <a:ext cx="578485" cy="579035"/>
            </a:xfrm>
            <a:prstGeom prst="pie">
              <a:avLst>
                <a:gd fmla="val 4028252" name="adj1"/>
                <a:gd fmla="val 17183677" name="adj2"/>
              </a:avLst>
            </a:prstGeom>
            <a:solidFill>
              <a:srgbClr val="1B786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3"/>
            <p:cNvSpPr/>
            <p:nvPr/>
          </p:nvSpPr>
          <p:spPr>
            <a:xfrm rot="-9359762">
              <a:off x="3193941" y="1176205"/>
              <a:ext cx="2777287" cy="2777287"/>
            </a:xfrm>
            <a:prstGeom prst="blockArc">
              <a:avLst>
                <a:gd fmla="val 12602522" name="adj1"/>
                <a:gd fmla="val 16867657" name="adj2"/>
                <a:gd fmla="val 20844" name="adj3"/>
              </a:avLst>
            </a:prstGeom>
            <a:solidFill>
              <a:srgbClr val="1D7E7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3"/>
            <p:cNvSpPr/>
            <p:nvPr/>
          </p:nvSpPr>
          <p:spPr>
            <a:xfrm rot="-8936366">
              <a:off x="3659126" y="3173505"/>
              <a:ext cx="578551" cy="578963"/>
            </a:xfrm>
            <a:prstGeom prst="pie">
              <a:avLst>
                <a:gd fmla="val 6190354" name="adj1"/>
                <a:gd fmla="val 14996165" name="adj2"/>
              </a:avLst>
            </a:prstGeom>
            <a:solidFill>
              <a:srgbClr val="1F887E"/>
            </a:solidFill>
            <a:ln>
              <a:noFill/>
            </a:ln>
            <a:effectLst>
              <a:outerShdw blurRad="142875" rotWithShape="0" algn="bl">
                <a:srgbClr val="000000">
                  <a:alpha val="42745"/>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3"/>
            <p:cNvSpPr/>
            <p:nvPr/>
          </p:nvSpPr>
          <p:spPr>
            <a:xfrm rot="1824498">
              <a:off x="3659375" y="3173497"/>
              <a:ext cx="578475" cy="578885"/>
            </a:xfrm>
            <a:prstGeom prst="pie">
              <a:avLst>
                <a:gd fmla="val 4028252" name="adj1"/>
                <a:gd fmla="val 17183677" name="adj2"/>
              </a:avLst>
            </a:prstGeom>
            <a:solidFill>
              <a:srgbClr val="1F887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3"/>
            <p:cNvSpPr/>
            <p:nvPr/>
          </p:nvSpPr>
          <p:spPr>
            <a:xfrm rot="-600092">
              <a:off x="3198852" y="1195456"/>
              <a:ext cx="2777611" cy="2777611"/>
            </a:xfrm>
            <a:prstGeom prst="blockArc">
              <a:avLst>
                <a:gd fmla="val 12513247" name="adj1"/>
                <a:gd fmla="val 16867657" name="adj2"/>
                <a:gd fmla="val 20844" name="adj3"/>
              </a:avLst>
            </a:prstGeom>
            <a:solidFill>
              <a:srgbClr val="249C9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3"/>
            <p:cNvSpPr/>
            <p:nvPr/>
          </p:nvSpPr>
          <p:spPr>
            <a:xfrm rot="-176551">
              <a:off x="4312105" y="1195442"/>
              <a:ext cx="578563" cy="579162"/>
            </a:xfrm>
            <a:prstGeom prst="pie">
              <a:avLst>
                <a:gd fmla="val 6190354" name="adj1"/>
                <a:gd fmla="val 14996165" name="adj2"/>
              </a:avLst>
            </a:prstGeom>
            <a:solidFill>
              <a:srgbClr val="155B55"/>
            </a:solidFill>
            <a:ln>
              <a:noFill/>
            </a:ln>
            <a:effectLst>
              <a:outerShdw blurRad="142875" rotWithShape="0" algn="bl">
                <a:srgbClr val="000000">
                  <a:alpha val="42745"/>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3"/>
            <p:cNvSpPr/>
            <p:nvPr/>
          </p:nvSpPr>
          <p:spPr>
            <a:xfrm rot="10584085">
              <a:off x="4312088" y="1195622"/>
              <a:ext cx="578340" cy="578939"/>
            </a:xfrm>
            <a:prstGeom prst="pie">
              <a:avLst>
                <a:gd fmla="val 4028252" name="adj1"/>
                <a:gd fmla="val 17183677" name="adj2"/>
              </a:avLst>
            </a:prstGeom>
            <a:solidFill>
              <a:srgbClr val="155B5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3"/>
            <p:cNvSpPr/>
            <p:nvPr/>
          </p:nvSpPr>
          <p:spPr>
            <a:xfrm rot="8344778">
              <a:off x="4940929" y="3162886"/>
              <a:ext cx="578465" cy="578888"/>
            </a:xfrm>
            <a:prstGeom prst="pie">
              <a:avLst>
                <a:gd fmla="val 6190354" name="adj1"/>
                <a:gd fmla="val 14996165" name="adj2"/>
              </a:avLst>
            </a:prstGeom>
            <a:solidFill>
              <a:srgbClr val="1D7E75"/>
            </a:solidFill>
            <a:ln>
              <a:noFill/>
            </a:ln>
            <a:effectLst>
              <a:outerShdw blurRad="142875" rotWithShape="0" algn="bl">
                <a:srgbClr val="000000">
                  <a:alpha val="42745"/>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3"/>
            <p:cNvSpPr/>
            <p:nvPr/>
          </p:nvSpPr>
          <p:spPr>
            <a:xfrm rot="-2495643">
              <a:off x="4941000" y="3162728"/>
              <a:ext cx="578445" cy="579093"/>
            </a:xfrm>
            <a:prstGeom prst="pie">
              <a:avLst>
                <a:gd fmla="val 4028252" name="adj1"/>
                <a:gd fmla="val 17183677" name="adj2"/>
              </a:avLst>
            </a:prstGeom>
            <a:solidFill>
              <a:srgbClr val="1D7E7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3"/>
            <p:cNvSpPr/>
            <p:nvPr/>
          </p:nvSpPr>
          <p:spPr>
            <a:xfrm rot="-4556960">
              <a:off x="3257335" y="1939059"/>
              <a:ext cx="578302" cy="578957"/>
            </a:xfrm>
            <a:prstGeom prst="pie">
              <a:avLst>
                <a:gd fmla="val 6190354" name="adj1"/>
                <a:gd fmla="val 14996165" name="adj2"/>
              </a:avLst>
            </a:prstGeom>
            <a:solidFill>
              <a:srgbClr val="249C91"/>
            </a:solidFill>
            <a:ln>
              <a:noFill/>
            </a:ln>
            <a:effectLst>
              <a:outerShdw blurRad="142875" rotWithShape="0" algn="bl">
                <a:srgbClr val="000000">
                  <a:alpha val="42745"/>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3"/>
            <p:cNvSpPr/>
            <p:nvPr/>
          </p:nvSpPr>
          <p:spPr>
            <a:xfrm rot="6204541">
              <a:off x="3257468" y="1938977"/>
              <a:ext cx="578264" cy="578917"/>
            </a:xfrm>
            <a:prstGeom prst="pie">
              <a:avLst>
                <a:gd fmla="val 4028252" name="adj1"/>
                <a:gd fmla="val 17183677" name="adj2"/>
              </a:avLst>
            </a:prstGeom>
            <a:solidFill>
              <a:srgbClr val="249C9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3"/>
            <p:cNvSpPr txBox="1"/>
            <p:nvPr/>
          </p:nvSpPr>
          <p:spPr>
            <a:xfrm>
              <a:off x="4341900" y="1271896"/>
              <a:ext cx="507900" cy="266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s-419" sz="1600" u="none" cap="none" strike="noStrike">
                  <a:solidFill>
                    <a:srgbClr val="FFFFFF"/>
                  </a:solidFill>
                  <a:latin typeface="Roboto"/>
                  <a:ea typeface="Roboto"/>
                  <a:cs typeface="Roboto"/>
                  <a:sym typeface="Roboto"/>
                </a:rPr>
                <a:t>05</a:t>
              </a:r>
              <a:endParaRPr b="1" i="0" sz="1600" u="none" cap="none" strike="noStrike">
                <a:solidFill>
                  <a:srgbClr val="FFFFFF"/>
                </a:solidFill>
                <a:latin typeface="Roboto"/>
                <a:ea typeface="Roboto"/>
                <a:cs typeface="Roboto"/>
                <a:sym typeface="Roboto"/>
              </a:endParaRPr>
            </a:p>
          </p:txBody>
        </p:sp>
        <p:sp>
          <p:nvSpPr>
            <p:cNvPr id="97" name="Google Shape;97;p3"/>
            <p:cNvSpPr txBox="1"/>
            <p:nvPr/>
          </p:nvSpPr>
          <p:spPr>
            <a:xfrm>
              <a:off x="3274219" y="2018364"/>
              <a:ext cx="507900" cy="266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s-419" sz="1600" u="none" cap="none" strike="noStrike">
                  <a:solidFill>
                    <a:srgbClr val="FFFFFF"/>
                  </a:solidFill>
                  <a:latin typeface="Roboto"/>
                  <a:ea typeface="Roboto"/>
                  <a:cs typeface="Roboto"/>
                  <a:sym typeface="Roboto"/>
                </a:rPr>
                <a:t>01</a:t>
              </a:r>
              <a:endParaRPr b="1" i="0" sz="1600" u="none" cap="none" strike="noStrike">
                <a:solidFill>
                  <a:srgbClr val="FFFFFF"/>
                </a:solidFill>
                <a:latin typeface="Roboto"/>
                <a:ea typeface="Roboto"/>
                <a:cs typeface="Roboto"/>
                <a:sym typeface="Roboto"/>
              </a:endParaRPr>
            </a:p>
          </p:txBody>
        </p:sp>
        <p:sp>
          <p:nvSpPr>
            <p:cNvPr id="98" name="Google Shape;98;p3"/>
            <p:cNvSpPr txBox="1"/>
            <p:nvPr/>
          </p:nvSpPr>
          <p:spPr>
            <a:xfrm>
              <a:off x="3685317" y="3247321"/>
              <a:ext cx="507900" cy="266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s-419" sz="1600" u="none" cap="none" strike="noStrike">
                  <a:solidFill>
                    <a:srgbClr val="FFFFFF"/>
                  </a:solidFill>
                  <a:latin typeface="Roboto"/>
                  <a:ea typeface="Roboto"/>
                  <a:cs typeface="Roboto"/>
                  <a:sym typeface="Roboto"/>
                </a:rPr>
                <a:t>02</a:t>
              </a:r>
              <a:endParaRPr b="1" i="0" sz="1600" u="none" cap="none" strike="noStrike">
                <a:solidFill>
                  <a:srgbClr val="FFFFFF"/>
                </a:solidFill>
                <a:latin typeface="Roboto"/>
                <a:ea typeface="Roboto"/>
                <a:cs typeface="Roboto"/>
                <a:sym typeface="Roboto"/>
              </a:endParaRPr>
            </a:p>
          </p:txBody>
        </p:sp>
        <p:sp>
          <p:nvSpPr>
            <p:cNvPr id="99" name="Google Shape;99;p3"/>
            <p:cNvSpPr txBox="1"/>
            <p:nvPr/>
          </p:nvSpPr>
          <p:spPr>
            <a:xfrm>
              <a:off x="4955323" y="3247321"/>
              <a:ext cx="507900" cy="266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s-419" sz="1600" u="none" cap="none" strike="noStrike">
                  <a:solidFill>
                    <a:srgbClr val="FFFFFF"/>
                  </a:solidFill>
                  <a:latin typeface="Roboto"/>
                  <a:ea typeface="Roboto"/>
                  <a:cs typeface="Roboto"/>
                  <a:sym typeface="Roboto"/>
                </a:rPr>
                <a:t>03</a:t>
              </a:r>
              <a:endParaRPr b="1" i="0" sz="1600" u="none" cap="none" strike="noStrike">
                <a:solidFill>
                  <a:srgbClr val="FFFFFF"/>
                </a:solidFill>
                <a:latin typeface="Roboto"/>
                <a:ea typeface="Roboto"/>
                <a:cs typeface="Roboto"/>
                <a:sym typeface="Roboto"/>
              </a:endParaRPr>
            </a:p>
          </p:txBody>
        </p:sp>
        <p:sp>
          <p:nvSpPr>
            <p:cNvPr id="100" name="Google Shape;100;p3"/>
            <p:cNvSpPr txBox="1"/>
            <p:nvPr/>
          </p:nvSpPr>
          <p:spPr>
            <a:xfrm>
              <a:off x="5364737" y="2018364"/>
              <a:ext cx="507900" cy="266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es-419" sz="1600" u="none" cap="none" strike="noStrike">
                  <a:solidFill>
                    <a:srgbClr val="FFFFFF"/>
                  </a:solidFill>
                  <a:latin typeface="Roboto"/>
                  <a:ea typeface="Roboto"/>
                  <a:cs typeface="Roboto"/>
                  <a:sym typeface="Roboto"/>
                </a:rPr>
                <a:t>04</a:t>
              </a:r>
              <a:endParaRPr b="1" i="0" sz="1600" u="none" cap="none" strike="noStrike">
                <a:solidFill>
                  <a:srgbClr val="FFFFFF"/>
                </a:solidFill>
                <a:latin typeface="Roboto"/>
                <a:ea typeface="Roboto"/>
                <a:cs typeface="Roboto"/>
                <a:sym typeface="Roboto"/>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5"/>
          <p:cNvSpPr txBox="1"/>
          <p:nvPr/>
        </p:nvSpPr>
        <p:spPr>
          <a:xfrm>
            <a:off x="552150" y="217650"/>
            <a:ext cx="8487000" cy="444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s-419" u="none" cap="none" strike="noStrike">
                <a:solidFill>
                  <a:schemeClr val="dk2"/>
                </a:solidFill>
              </a:rPr>
              <a:t>¿Que se obtendrá al finalizar el servicio?</a:t>
            </a:r>
            <a:endParaRPr>
              <a:solidFill>
                <a:schemeClr val="dk2"/>
              </a:solidFill>
            </a:endParaRPr>
          </a:p>
          <a:p>
            <a:pPr indent="0" lvl="0" marL="0" marR="0" rtl="0" algn="l">
              <a:lnSpc>
                <a:spcPct val="100000"/>
              </a:lnSpc>
              <a:spcBef>
                <a:spcPts val="0"/>
              </a:spcBef>
              <a:spcAft>
                <a:spcPts val="0"/>
              </a:spcAft>
              <a:buClr>
                <a:srgbClr val="000000"/>
              </a:buClr>
              <a:buSzPts val="1000"/>
              <a:buFont typeface="Arial"/>
              <a:buNone/>
            </a:pPr>
            <a:r>
              <a:t/>
            </a:r>
            <a:endParaRPr sz="1000">
              <a:solidFill>
                <a:schemeClr val="dk2"/>
              </a:solidFill>
            </a:endParaRPr>
          </a:p>
          <a:p>
            <a:pPr indent="0" lvl="0" marL="0" marR="0" rtl="0" algn="l">
              <a:lnSpc>
                <a:spcPct val="100000"/>
              </a:lnSpc>
              <a:spcBef>
                <a:spcPts val="0"/>
              </a:spcBef>
              <a:spcAft>
                <a:spcPts val="0"/>
              </a:spcAft>
              <a:buClr>
                <a:srgbClr val="000000"/>
              </a:buClr>
              <a:buSzPts val="1000"/>
              <a:buFont typeface="Arial"/>
              <a:buNone/>
            </a:pPr>
            <a:r>
              <a:rPr lang="es-419" sz="1000">
                <a:solidFill>
                  <a:schemeClr val="dk2"/>
                </a:solidFill>
              </a:rPr>
              <a:t>Luego de haber contratado un servicio de SEO y comenzar a ver resultados reflejados, un cliente puede esperar obtener varios beneficios tangibles e intangibles que contribuirán al éxito y crecimiento de su negocio en línea. Estos beneficios se materializan en diversos aspectos, tanto a corto como a largo plazo:</a:t>
            </a:r>
            <a:endParaRPr sz="1000">
              <a:solidFill>
                <a:schemeClr val="dk2"/>
              </a:solidFill>
            </a:endParaRPr>
          </a:p>
          <a:p>
            <a:pPr indent="0" lvl="0" marL="0" marR="0" rtl="0" algn="l">
              <a:lnSpc>
                <a:spcPct val="100000"/>
              </a:lnSpc>
              <a:spcBef>
                <a:spcPts val="0"/>
              </a:spcBef>
              <a:spcAft>
                <a:spcPts val="0"/>
              </a:spcAft>
              <a:buClr>
                <a:srgbClr val="000000"/>
              </a:buClr>
              <a:buSzPts val="1000"/>
              <a:buFont typeface="Arial"/>
              <a:buNone/>
            </a:pPr>
            <a:r>
              <a:t/>
            </a:r>
            <a:endParaRPr sz="1000">
              <a:solidFill>
                <a:schemeClr val="dk2"/>
              </a:solidFill>
            </a:endParaRPr>
          </a:p>
          <a:p>
            <a:pPr indent="-292100" lvl="0" marL="457200" marR="0" rtl="0" algn="l">
              <a:lnSpc>
                <a:spcPct val="100000"/>
              </a:lnSpc>
              <a:spcBef>
                <a:spcPts val="0"/>
              </a:spcBef>
              <a:spcAft>
                <a:spcPts val="0"/>
              </a:spcAft>
              <a:buClr>
                <a:schemeClr val="dk2"/>
              </a:buClr>
              <a:buSzPts val="1000"/>
              <a:buChar char="●"/>
            </a:pPr>
            <a:r>
              <a:rPr lang="es-419" sz="1000" u="sng">
                <a:solidFill>
                  <a:schemeClr val="dk2"/>
                </a:solidFill>
              </a:rPr>
              <a:t>Mejora en el ranking de búsqueda:</a:t>
            </a:r>
            <a:r>
              <a:rPr lang="es-419" sz="1000">
                <a:solidFill>
                  <a:schemeClr val="dk2"/>
                </a:solidFill>
              </a:rPr>
              <a:t> Uno de los primeros y más evidentes resultados es un mejor posicionamiento en las páginas de resultados de los motores de búsqueda (SERPs) para palabras clave relevantes. Esto significa que cuando los usuarios buscan términos relacionados con el negocio, productos o servicios ofrecidos, el sitio web aparece más arriba en la lista de resultados, aumentando la visibilidad.</a:t>
            </a:r>
            <a:endParaRPr sz="1000">
              <a:solidFill>
                <a:schemeClr val="dk2"/>
              </a:solidFill>
            </a:endParaRPr>
          </a:p>
          <a:p>
            <a:pPr indent="-292100" lvl="0" marL="457200" marR="0" rtl="0" algn="l">
              <a:lnSpc>
                <a:spcPct val="100000"/>
              </a:lnSpc>
              <a:spcBef>
                <a:spcPts val="0"/>
              </a:spcBef>
              <a:spcAft>
                <a:spcPts val="0"/>
              </a:spcAft>
              <a:buClr>
                <a:schemeClr val="dk2"/>
              </a:buClr>
              <a:buSzPts val="1000"/>
              <a:buChar char="●"/>
            </a:pPr>
            <a:r>
              <a:rPr lang="es-419" sz="1000" u="sng">
                <a:solidFill>
                  <a:schemeClr val="dk2"/>
                </a:solidFill>
              </a:rPr>
              <a:t>Aumento del tráfico orgánico:</a:t>
            </a:r>
            <a:r>
              <a:rPr lang="es-419" sz="1000">
                <a:solidFill>
                  <a:schemeClr val="dk2"/>
                </a:solidFill>
              </a:rPr>
              <a:t> Con un mejor ranking en los motores de búsqueda, el sitio web experimenta un aumento en el tráfico orgánico. Esto se traduce en más visitantes que llegan al sitio de forma natural a través de búsquedas, sin la necesidad de publicidad pagada.</a:t>
            </a:r>
            <a:endParaRPr sz="1000">
              <a:solidFill>
                <a:schemeClr val="dk2"/>
              </a:solidFill>
            </a:endParaRPr>
          </a:p>
          <a:p>
            <a:pPr indent="-292100" lvl="0" marL="457200" marR="0" rtl="0" algn="l">
              <a:lnSpc>
                <a:spcPct val="100000"/>
              </a:lnSpc>
              <a:spcBef>
                <a:spcPts val="0"/>
              </a:spcBef>
              <a:spcAft>
                <a:spcPts val="0"/>
              </a:spcAft>
              <a:buClr>
                <a:schemeClr val="dk2"/>
              </a:buClr>
              <a:buSzPts val="1000"/>
              <a:buChar char="●"/>
            </a:pPr>
            <a:r>
              <a:rPr lang="es-419" sz="1000" u="sng">
                <a:solidFill>
                  <a:schemeClr val="dk2"/>
                </a:solidFill>
              </a:rPr>
              <a:t>Mayor calidad del tráfico:</a:t>
            </a:r>
            <a:r>
              <a:rPr lang="es-419" sz="1000">
                <a:solidFill>
                  <a:schemeClr val="dk2"/>
                </a:solidFill>
              </a:rPr>
              <a:t> El SEO no solo aumenta la cantidad de tráfico, sino también su calidad. Al optimizar el sitio web para palabras clave específicas y relevantes, los visitantes que llegan al sitio son más propensos a estar interesados en los productos o servicios ofrecidos, lo que aumenta las posibilidades de conversión.</a:t>
            </a:r>
            <a:endParaRPr sz="1000">
              <a:solidFill>
                <a:schemeClr val="dk2"/>
              </a:solidFill>
            </a:endParaRPr>
          </a:p>
          <a:p>
            <a:pPr indent="-292100" lvl="0" marL="457200" marR="0" rtl="0" algn="l">
              <a:lnSpc>
                <a:spcPct val="100000"/>
              </a:lnSpc>
              <a:spcBef>
                <a:spcPts val="0"/>
              </a:spcBef>
              <a:spcAft>
                <a:spcPts val="0"/>
              </a:spcAft>
              <a:buClr>
                <a:schemeClr val="dk2"/>
              </a:buClr>
              <a:buSzPts val="1000"/>
              <a:buChar char="●"/>
            </a:pPr>
            <a:r>
              <a:rPr lang="es-419" sz="1000" u="sng">
                <a:solidFill>
                  <a:schemeClr val="dk2"/>
                </a:solidFill>
              </a:rPr>
              <a:t>Mejora en la experiencia de usuario:</a:t>
            </a:r>
            <a:r>
              <a:rPr lang="es-419" sz="1000">
                <a:solidFill>
                  <a:schemeClr val="dk2"/>
                </a:solidFill>
              </a:rPr>
              <a:t> Un servicio de SEO eficaz también se enfoca en optimizar la experiencia del usuario en el sitio web, lo que incluye mejorar la velocidad de carga, asegurar que el diseño sea responsive (adaptable a dispositivos móviles), y que el contenido sea relevante y de fácil acceso. Esto no solo contribuye a un mejor posicionamiento en buscadores, sino que también incrementa la satisfacción de los usuarios y las tasas de conversión.</a:t>
            </a:r>
            <a:endParaRPr sz="1000">
              <a:solidFill>
                <a:schemeClr val="dk2"/>
              </a:solidFill>
            </a:endParaRPr>
          </a:p>
          <a:p>
            <a:pPr indent="-292100" lvl="0" marL="457200" marR="0" rtl="0" algn="l">
              <a:lnSpc>
                <a:spcPct val="100000"/>
              </a:lnSpc>
              <a:spcBef>
                <a:spcPts val="0"/>
              </a:spcBef>
              <a:spcAft>
                <a:spcPts val="0"/>
              </a:spcAft>
              <a:buClr>
                <a:schemeClr val="dk2"/>
              </a:buClr>
              <a:buSzPts val="1000"/>
              <a:buChar char="●"/>
            </a:pPr>
            <a:r>
              <a:rPr lang="es-419" sz="1000" u="sng">
                <a:solidFill>
                  <a:schemeClr val="dk2"/>
                </a:solidFill>
              </a:rPr>
              <a:t>Incremento de la conversión y ROI:</a:t>
            </a:r>
            <a:r>
              <a:rPr lang="es-419" sz="1000">
                <a:solidFill>
                  <a:schemeClr val="dk2"/>
                </a:solidFill>
              </a:rPr>
              <a:t> Al atraer tráfico más cualificado y mejorar la experiencia de usuario, es más probable que los visitantes realicen acciones deseadas en el sitio, como realizar compras, suscribirse a newsletters o completar formularios de contacto. Esto se traduce en un aumento de las conversiones y, por ende, un retorno de inversión (ROI) más alto para las actividades de SEO.</a:t>
            </a:r>
            <a:endParaRPr sz="1000">
              <a:solidFill>
                <a:schemeClr val="dk2"/>
              </a:solidFill>
            </a:endParaRPr>
          </a:p>
          <a:p>
            <a:pPr indent="-292100" lvl="0" marL="457200" marR="0" rtl="0" algn="l">
              <a:lnSpc>
                <a:spcPct val="100000"/>
              </a:lnSpc>
              <a:spcBef>
                <a:spcPts val="0"/>
              </a:spcBef>
              <a:spcAft>
                <a:spcPts val="0"/>
              </a:spcAft>
              <a:buClr>
                <a:schemeClr val="dk2"/>
              </a:buClr>
              <a:buSzPts val="1000"/>
              <a:buChar char="●"/>
            </a:pPr>
            <a:r>
              <a:rPr lang="es-419" sz="1000" u="sng">
                <a:solidFill>
                  <a:schemeClr val="dk2"/>
                </a:solidFill>
              </a:rPr>
              <a:t>Mayor autoridad y confianza de la marca:</a:t>
            </a:r>
            <a:r>
              <a:rPr lang="es-419" sz="1000">
                <a:solidFill>
                  <a:schemeClr val="dk2"/>
                </a:solidFill>
              </a:rPr>
              <a:t> A medida que el sitio web obtiene mejores posiciones en los resultados de búsqueda y ofrece contenido de calidad, se construye autoridad en su nicho. Esto fomenta la confianza entre los usuarios y potenciales clientes, que tienden a percibir los sitios mejor posicionados como más confiables y autoritativos.</a:t>
            </a:r>
            <a:endParaRPr sz="1000">
              <a:solidFill>
                <a:schemeClr val="dk2"/>
              </a:solidFill>
            </a:endParaRPr>
          </a:p>
          <a:p>
            <a:pPr indent="-292100" lvl="0" marL="457200" marR="0" rtl="0" algn="l">
              <a:lnSpc>
                <a:spcPct val="100000"/>
              </a:lnSpc>
              <a:spcBef>
                <a:spcPts val="0"/>
              </a:spcBef>
              <a:spcAft>
                <a:spcPts val="0"/>
              </a:spcAft>
              <a:buClr>
                <a:schemeClr val="dk2"/>
              </a:buClr>
              <a:buSzPts val="1000"/>
              <a:buChar char="●"/>
            </a:pPr>
            <a:r>
              <a:rPr lang="es-419" sz="1000" u="sng">
                <a:solidFill>
                  <a:schemeClr val="dk2"/>
                </a:solidFill>
              </a:rPr>
              <a:t>Ventaja competitiva sostenible: </a:t>
            </a:r>
            <a:r>
              <a:rPr lang="es-419" sz="1000">
                <a:solidFill>
                  <a:schemeClr val="dk2"/>
                </a:solidFill>
              </a:rPr>
              <a:t>Al establecer una presencia sólida en línea y mejorar continuamente su estrategia de SEO, un negocio puede mantener e incluso ampliar su ventaja competitiva en el mercado digital. Esto es especialmente valioso en industrias altamente competitivas.</a:t>
            </a:r>
            <a:endParaRPr sz="1000">
              <a:solidFill>
                <a:schemeClr val="dk2"/>
              </a:solidFill>
            </a:endParaRPr>
          </a:p>
          <a:p>
            <a:pPr indent="-292100" lvl="0" marL="457200" marR="0" rtl="0" algn="l">
              <a:lnSpc>
                <a:spcPct val="100000"/>
              </a:lnSpc>
              <a:spcBef>
                <a:spcPts val="0"/>
              </a:spcBef>
              <a:spcAft>
                <a:spcPts val="0"/>
              </a:spcAft>
              <a:buClr>
                <a:schemeClr val="dk2"/>
              </a:buClr>
              <a:buSzPts val="1000"/>
              <a:buChar char="●"/>
            </a:pPr>
            <a:r>
              <a:rPr lang="es-419" sz="1000" u="sng">
                <a:solidFill>
                  <a:schemeClr val="dk2"/>
                </a:solidFill>
              </a:rPr>
              <a:t>Insights valiosos:</a:t>
            </a:r>
            <a:r>
              <a:rPr lang="es-419" sz="1000">
                <a:solidFill>
                  <a:schemeClr val="dk2"/>
                </a:solidFill>
              </a:rPr>
              <a:t> A través de herramientas de análisis y seguimiento, como Google Analytics, los clientes pueden obtener insights valiosos sobre el comportamiento de los usuarios, preferencias, demografía y más. Esto permite una toma de decisiones basada en datos para optimizar aún más el rendimiento del sitio web y las estrategias de marketing.</a:t>
            </a:r>
            <a:endParaRPr sz="1000">
              <a:solidFill>
                <a:schemeClr val="dk2"/>
              </a:solidFill>
            </a:endParaRPr>
          </a:p>
          <a:p>
            <a:pPr indent="0" lvl="0" marL="0" marR="0" rtl="0" algn="l">
              <a:lnSpc>
                <a:spcPct val="100000"/>
              </a:lnSpc>
              <a:spcBef>
                <a:spcPts val="0"/>
              </a:spcBef>
              <a:spcAft>
                <a:spcPts val="0"/>
              </a:spcAft>
              <a:buClr>
                <a:srgbClr val="000000"/>
              </a:buClr>
              <a:buSzPts val="1000"/>
              <a:buFont typeface="Arial"/>
              <a:buNone/>
            </a:pPr>
            <a:r>
              <a:t/>
            </a:r>
            <a:endParaRPr sz="1000">
              <a:solidFill>
                <a:schemeClr val="dk2"/>
              </a:solidFill>
            </a:endParaRPr>
          </a:p>
          <a:p>
            <a:pPr indent="0" lvl="0" marL="0" marR="0" rtl="0" algn="l">
              <a:lnSpc>
                <a:spcPct val="100000"/>
              </a:lnSpc>
              <a:spcBef>
                <a:spcPts val="0"/>
              </a:spcBef>
              <a:spcAft>
                <a:spcPts val="0"/>
              </a:spcAft>
              <a:buClr>
                <a:srgbClr val="000000"/>
              </a:buClr>
              <a:buSzPts val="1000"/>
              <a:buFont typeface="Arial"/>
              <a:buNone/>
            </a:pPr>
            <a:r>
              <a:rPr lang="es-419" sz="1000">
                <a:solidFill>
                  <a:schemeClr val="dk2"/>
                </a:solidFill>
              </a:rPr>
              <a:t>En resumen, luego de contratar un servicio de SEO y ver resultados, un cliente obtiene un sitio web mejor posicionado, con tráfico más cualificado, mejor experiencia de usuario, y un incremento en las conversiones y autoridad de marca, todo lo cual contribuye al crecimiento y éxito sostenible del negocio en el entorno digital.</a:t>
            </a:r>
            <a:endParaRPr sz="10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